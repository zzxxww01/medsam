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comments/comment1.xml" ContentType="application/vnd.openxmlformats-officedocument.presentationml.comments+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6" r:id="rId2"/>
    <p:sldId id="342" r:id="rId3"/>
    <p:sldId id="292" r:id="rId4"/>
    <p:sldId id="326" r:id="rId5"/>
    <p:sldId id="369" r:id="rId6"/>
    <p:sldId id="341" r:id="rId7"/>
    <p:sldId id="365" r:id="rId8"/>
    <p:sldId id="374" r:id="rId9"/>
    <p:sldId id="373" r:id="rId10"/>
    <p:sldId id="259" r:id="rId11"/>
  </p:sldIdLst>
  <p:sldSz cx="12192000" cy="6858000"/>
  <p:notesSz cx="7104063" cy="10234613"/>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ao mu" initials="xm" lastIdx="2" clrIdx="0">
    <p:extLst>
      <p:ext uri="{19B8F6BF-5375-455C-9EA6-DF929625EA0E}">
        <p15:presenceInfo xmlns:p15="http://schemas.microsoft.com/office/powerpoint/2012/main" userId="947151fe5bf3422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85190F"/>
    <a:srgbClr val="FFFFFF"/>
    <a:srgbClr val="B2B2B2"/>
    <a:srgbClr val="202020"/>
    <a:srgbClr val="323232"/>
    <a:srgbClr val="CC3300"/>
    <a:srgbClr val="CC0000"/>
    <a:srgbClr val="FF33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78" autoAdjust="0"/>
    <p:restoredTop sz="79247" autoAdjust="0"/>
  </p:normalViewPr>
  <p:slideViewPr>
    <p:cSldViewPr snapToGrid="0" showGuides="1">
      <p:cViewPr varScale="1">
        <p:scale>
          <a:sx n="65" d="100"/>
          <a:sy n="65" d="100"/>
        </p:scale>
        <p:origin x="60" y="56"/>
      </p:cViewPr>
      <p:guideLst>
        <p:guide orient="horz" pos="2160"/>
        <p:guide pos="3838"/>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0-30T15:06:17.342" idx="1">
    <p:pos x="5796" y="1359"/>
    <p:text>增加</p:text>
    <p:extLst>
      <p:ext uri="{C676402C-5697-4E1C-873F-D02D1690AC5C}">
        <p15:threadingInfo xmlns:p15="http://schemas.microsoft.com/office/powerpoint/2012/main" timeZoneBias="-480"/>
      </p:ext>
    </p:extLst>
  </p:cm>
  <p:cm authorId="1" dt="2025-10-30T15:07:37.576" idx="2">
    <p:pos x="5796" y="1495"/>
    <p:text>增加一些抽象的图片</p:text>
    <p:extLst>
      <p:ext uri="{C676402C-5697-4E1C-873F-D02D1690AC5C}">
        <p15:threadingInfo xmlns:p15="http://schemas.microsoft.com/office/powerpoint/2012/main" timeZoneBias="-480">
          <p15:parentCm authorId="1" idx="1"/>
        </p15:threadingInfo>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2026/3/25</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2026/3/21</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所以作为医学图像分析中的重要环节的医学图像分割，能否准确地分割图像则变得尤为关键。</a:t>
            </a:r>
          </a:p>
          <a:p>
            <a:endParaRPr kumimoji="1"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5</a:t>
            </a:fld>
            <a:endParaRPr lang="zh-CN" altLang="en-US"/>
          </a:p>
        </p:txBody>
      </p:sp>
    </p:spTree>
    <p:extLst>
      <p:ext uri="{BB962C8B-B14F-4D97-AF65-F5344CB8AC3E}">
        <p14:creationId xmlns:p14="http://schemas.microsoft.com/office/powerpoint/2010/main" val="2489304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a:t>
            </a:r>
            <a:r>
              <a:rPr kumimoji="1" lang="en-US" altLang="zh-CN" dirty="0"/>
              <a:t>ISIC 2016</a:t>
            </a:r>
            <a:r>
              <a:rPr kumimoji="1" lang="zh-CN" altLang="en-US" dirty="0"/>
              <a:t>、</a:t>
            </a:r>
            <a:r>
              <a:rPr kumimoji="1" lang="en-US" altLang="zh-CN" dirty="0"/>
              <a:t>ISIC 2018</a:t>
            </a:r>
            <a:r>
              <a:rPr kumimoji="1" lang="zh-CN" altLang="en-US" dirty="0"/>
              <a:t>和</a:t>
            </a:r>
            <a:r>
              <a:rPr kumimoji="1" lang="en-US" altLang="zh-CN" dirty="0"/>
              <a:t>PH\</a:t>
            </a:r>
            <a:r>
              <a:rPr kumimoji="1" lang="en-US" altLang="zh-CN" dirty="0" err="1"/>
              <a:t>textsuperscript</a:t>
            </a:r>
            <a:r>
              <a:rPr kumimoji="1" lang="en-US" altLang="zh-CN" dirty="0"/>
              <a:t>{2}</a:t>
            </a:r>
            <a:r>
              <a:rPr kumimoji="1" lang="zh-CN" altLang="en-US" dirty="0"/>
              <a:t>三个皮肤病灶分割数据集上进行了实验。隐式分割集成大小为</a:t>
            </a:r>
            <a:r>
              <a:rPr kumimoji="1" lang="en-US" altLang="zh-CN" dirty="0"/>
              <a:t>5</a:t>
            </a:r>
            <a:r>
              <a:rPr kumimoji="1" lang="zh-CN" altLang="en-US" dirty="0"/>
              <a:t>，采用均值聚合得到最终分割图。</a:t>
            </a:r>
            <a:endParaRPr kumimoji="1" lang="en-US" altLang="zh-CN" dirty="0"/>
          </a:p>
          <a:p>
            <a:br>
              <a:rPr kumimoji="1" lang="en-US" altLang="zh-CN" dirty="0"/>
            </a:br>
            <a:r>
              <a:rPr kumimoji="1" lang="zh-CN" altLang="en-US" dirty="0"/>
              <a:t>定量结果表明，</a:t>
            </a:r>
            <a:r>
              <a:rPr kumimoji="1" lang="en-US" altLang="zh-CN" dirty="0" err="1"/>
              <a:t>FuzzySegDiff</a:t>
            </a:r>
            <a:r>
              <a:rPr kumimoji="1" lang="zh-CN" altLang="en-US" dirty="0"/>
              <a:t>在</a:t>
            </a:r>
            <a:r>
              <a:rPr kumimoji="1" lang="en-US" altLang="zh-CN" dirty="0"/>
              <a:t>DSC</a:t>
            </a:r>
            <a:r>
              <a:rPr kumimoji="1" lang="zh-CN" altLang="en-US" dirty="0"/>
              <a:t>、</a:t>
            </a:r>
            <a:r>
              <a:rPr kumimoji="1" lang="en-US" altLang="zh-CN" dirty="0" err="1"/>
              <a:t>mIoU</a:t>
            </a:r>
            <a:r>
              <a:rPr kumimoji="1" lang="zh-CN" altLang="en-US" dirty="0"/>
              <a:t>和</a:t>
            </a:r>
            <a:r>
              <a:rPr kumimoji="1" lang="en-US" altLang="zh-CN" dirty="0"/>
              <a:t>ACC</a:t>
            </a:r>
            <a:r>
              <a:rPr kumimoji="1" lang="zh-CN" altLang="en-US" dirty="0"/>
              <a:t>等指标上优于</a:t>
            </a:r>
            <a:r>
              <a:rPr kumimoji="1" lang="en-US" altLang="zh-CN" dirty="0" err="1"/>
              <a:t>DermoSegDiff</a:t>
            </a:r>
            <a:r>
              <a:rPr kumimoji="1" lang="zh-CN" altLang="en-US" dirty="0"/>
              <a:t>、</a:t>
            </a:r>
            <a:r>
              <a:rPr kumimoji="1" lang="en-US" altLang="zh-CN" dirty="0"/>
              <a:t>MedSegDiff-V2</a:t>
            </a:r>
            <a:r>
              <a:rPr kumimoji="1" lang="zh-CN" altLang="en-US" dirty="0"/>
              <a:t>等</a:t>
            </a:r>
            <a:r>
              <a:rPr kumimoji="1" lang="en-US" altLang="zh-CN" dirty="0"/>
              <a:t>diffusion</a:t>
            </a:r>
            <a:r>
              <a:rPr kumimoji="1" lang="zh-CN" altLang="en-US" dirty="0"/>
              <a:t>模型以及</a:t>
            </a:r>
            <a:r>
              <a:rPr kumimoji="1" lang="en-US" altLang="zh-CN" dirty="0"/>
              <a:t>CNN</a:t>
            </a:r>
            <a:r>
              <a:rPr kumimoji="1" lang="zh-CN" altLang="en-US" dirty="0"/>
              <a:t>、</a:t>
            </a:r>
            <a:r>
              <a:rPr kumimoji="1" lang="en-US" altLang="zh-CN" dirty="0"/>
              <a:t>VIT</a:t>
            </a:r>
            <a:r>
              <a:rPr kumimoji="1" lang="zh-CN" altLang="en-US" dirty="0"/>
              <a:t>和混合模型，展现了其优越的性能、有效性和泛化性。定性结果（如图 </a:t>
            </a:r>
            <a:r>
              <a:rPr kumimoji="1" lang="en-US" altLang="zh-CN" dirty="0"/>
              <a:t>4</a:t>
            </a:r>
            <a:r>
              <a:rPr kumimoji="1" lang="zh-CN" altLang="en-US" dirty="0"/>
              <a:t>）表明，</a:t>
            </a:r>
            <a:r>
              <a:rPr kumimoji="1" lang="en-US" altLang="zh-CN" dirty="0" err="1"/>
              <a:t>FuzzySegDiff</a:t>
            </a:r>
            <a:r>
              <a:rPr kumimoji="1" lang="en-US" altLang="zh-CN" dirty="0"/>
              <a:t> </a:t>
            </a:r>
            <a:r>
              <a:rPr kumimoji="1" lang="zh-CN" altLang="en-US" dirty="0"/>
              <a:t>能够更准确地分割病灶边界，尤其在处理环状结构病灶时，能有效避免内部分割，显示了对类别内一致性的优势。</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7</a:t>
            </a:fld>
            <a:endParaRPr lang="zh-CN" altLang="en-US"/>
          </a:p>
        </p:txBody>
      </p:sp>
    </p:spTree>
    <p:extLst>
      <p:ext uri="{BB962C8B-B14F-4D97-AF65-F5344CB8AC3E}">
        <p14:creationId xmlns:p14="http://schemas.microsoft.com/office/powerpoint/2010/main" val="58114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a:t>
            </a:r>
            <a:r>
              <a:rPr kumimoji="1" lang="en-US" altLang="zh-CN" dirty="0"/>
              <a:t>ISIC 2016</a:t>
            </a:r>
            <a:r>
              <a:rPr kumimoji="1" lang="zh-CN" altLang="en-US" dirty="0"/>
              <a:t>、</a:t>
            </a:r>
            <a:r>
              <a:rPr kumimoji="1" lang="en-US" altLang="zh-CN" dirty="0"/>
              <a:t>ISIC 2018</a:t>
            </a:r>
            <a:r>
              <a:rPr kumimoji="1" lang="zh-CN" altLang="en-US" dirty="0"/>
              <a:t>和</a:t>
            </a:r>
            <a:r>
              <a:rPr kumimoji="1" lang="en-US" altLang="zh-CN" dirty="0"/>
              <a:t>PH\</a:t>
            </a:r>
            <a:r>
              <a:rPr kumimoji="1" lang="en-US" altLang="zh-CN" dirty="0" err="1"/>
              <a:t>textsuperscript</a:t>
            </a:r>
            <a:r>
              <a:rPr kumimoji="1" lang="en-US" altLang="zh-CN" dirty="0"/>
              <a:t>{2}</a:t>
            </a:r>
            <a:r>
              <a:rPr kumimoji="1" lang="zh-CN" altLang="en-US" dirty="0"/>
              <a:t>三个皮肤病灶分割数据集上进行了实验。隐式分割集成大小为</a:t>
            </a:r>
            <a:r>
              <a:rPr kumimoji="1" lang="en-US" altLang="zh-CN" dirty="0"/>
              <a:t>5</a:t>
            </a:r>
            <a:r>
              <a:rPr kumimoji="1" lang="zh-CN" altLang="en-US" dirty="0"/>
              <a:t>，采用均值聚合得到最终分割图。</a:t>
            </a:r>
            <a:endParaRPr kumimoji="1" lang="en-US" altLang="zh-CN" dirty="0"/>
          </a:p>
          <a:p>
            <a:br>
              <a:rPr kumimoji="1" lang="en-US" altLang="zh-CN" dirty="0"/>
            </a:br>
            <a:r>
              <a:rPr kumimoji="1" lang="zh-CN" altLang="en-US" dirty="0"/>
              <a:t>定量结果表明，</a:t>
            </a:r>
            <a:r>
              <a:rPr kumimoji="1" lang="en-US" altLang="zh-CN" dirty="0" err="1"/>
              <a:t>FuzzySegDiff</a:t>
            </a:r>
            <a:r>
              <a:rPr kumimoji="1" lang="zh-CN" altLang="en-US" dirty="0"/>
              <a:t>在</a:t>
            </a:r>
            <a:r>
              <a:rPr kumimoji="1" lang="en-US" altLang="zh-CN" dirty="0"/>
              <a:t>DSC</a:t>
            </a:r>
            <a:r>
              <a:rPr kumimoji="1" lang="zh-CN" altLang="en-US" dirty="0"/>
              <a:t>、</a:t>
            </a:r>
            <a:r>
              <a:rPr kumimoji="1" lang="en-US" altLang="zh-CN" dirty="0" err="1"/>
              <a:t>mIoU</a:t>
            </a:r>
            <a:r>
              <a:rPr kumimoji="1" lang="zh-CN" altLang="en-US" dirty="0"/>
              <a:t>和</a:t>
            </a:r>
            <a:r>
              <a:rPr kumimoji="1" lang="en-US" altLang="zh-CN" dirty="0"/>
              <a:t>ACC</a:t>
            </a:r>
            <a:r>
              <a:rPr kumimoji="1" lang="zh-CN" altLang="en-US" dirty="0"/>
              <a:t>等指标上优于</a:t>
            </a:r>
            <a:r>
              <a:rPr kumimoji="1" lang="en-US" altLang="zh-CN" dirty="0" err="1"/>
              <a:t>DermoSegDiff</a:t>
            </a:r>
            <a:r>
              <a:rPr kumimoji="1" lang="zh-CN" altLang="en-US" dirty="0"/>
              <a:t>、</a:t>
            </a:r>
            <a:r>
              <a:rPr kumimoji="1" lang="en-US" altLang="zh-CN" dirty="0"/>
              <a:t>MedSegDiff-V2</a:t>
            </a:r>
            <a:r>
              <a:rPr kumimoji="1" lang="zh-CN" altLang="en-US" dirty="0"/>
              <a:t>等</a:t>
            </a:r>
            <a:r>
              <a:rPr kumimoji="1" lang="en-US" altLang="zh-CN" dirty="0"/>
              <a:t>diffusion</a:t>
            </a:r>
            <a:r>
              <a:rPr kumimoji="1" lang="zh-CN" altLang="en-US" dirty="0"/>
              <a:t>模型以及</a:t>
            </a:r>
            <a:r>
              <a:rPr kumimoji="1" lang="en-US" altLang="zh-CN" dirty="0"/>
              <a:t>CNN</a:t>
            </a:r>
            <a:r>
              <a:rPr kumimoji="1" lang="zh-CN" altLang="en-US" dirty="0"/>
              <a:t>、</a:t>
            </a:r>
            <a:r>
              <a:rPr kumimoji="1" lang="en-US" altLang="zh-CN" dirty="0"/>
              <a:t>VIT</a:t>
            </a:r>
            <a:r>
              <a:rPr kumimoji="1" lang="zh-CN" altLang="en-US" dirty="0"/>
              <a:t>和混合模型，展现了其优越的性能、有效性和泛化性。定性结果（如图 </a:t>
            </a:r>
            <a:r>
              <a:rPr kumimoji="1" lang="en-US" altLang="zh-CN" dirty="0"/>
              <a:t>4</a:t>
            </a:r>
            <a:r>
              <a:rPr kumimoji="1" lang="zh-CN" altLang="en-US" dirty="0"/>
              <a:t>）表明，</a:t>
            </a:r>
            <a:r>
              <a:rPr kumimoji="1" lang="en-US" altLang="zh-CN" dirty="0" err="1"/>
              <a:t>FuzzySegDiff</a:t>
            </a:r>
            <a:r>
              <a:rPr kumimoji="1" lang="en-US" altLang="zh-CN" dirty="0"/>
              <a:t> </a:t>
            </a:r>
            <a:r>
              <a:rPr kumimoji="1" lang="zh-CN" altLang="en-US" dirty="0"/>
              <a:t>能够更准确地分割病灶边界，尤其在处理环状结构病灶时，能有效避免内部分割，显示了对类别内一致性的优势。</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8</a:t>
            </a:fld>
            <a:endParaRPr lang="zh-CN" altLang="en-US"/>
          </a:p>
        </p:txBody>
      </p:sp>
    </p:spTree>
    <p:extLst>
      <p:ext uri="{BB962C8B-B14F-4D97-AF65-F5344CB8AC3E}">
        <p14:creationId xmlns:p14="http://schemas.microsoft.com/office/powerpoint/2010/main" val="3884117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a:t>
            </a:r>
            <a:r>
              <a:rPr kumimoji="1" lang="en-US" altLang="zh-CN" dirty="0"/>
              <a:t>ISIC 2016</a:t>
            </a:r>
            <a:r>
              <a:rPr kumimoji="1" lang="zh-CN" altLang="en-US" dirty="0"/>
              <a:t>、</a:t>
            </a:r>
            <a:r>
              <a:rPr kumimoji="1" lang="en-US" altLang="zh-CN" dirty="0"/>
              <a:t>ISIC 2018</a:t>
            </a:r>
            <a:r>
              <a:rPr kumimoji="1" lang="zh-CN" altLang="en-US" dirty="0"/>
              <a:t>和</a:t>
            </a:r>
            <a:r>
              <a:rPr kumimoji="1" lang="en-US" altLang="zh-CN" dirty="0"/>
              <a:t>PH\</a:t>
            </a:r>
            <a:r>
              <a:rPr kumimoji="1" lang="en-US" altLang="zh-CN" dirty="0" err="1"/>
              <a:t>textsuperscript</a:t>
            </a:r>
            <a:r>
              <a:rPr kumimoji="1" lang="en-US" altLang="zh-CN" dirty="0"/>
              <a:t>{2}</a:t>
            </a:r>
            <a:r>
              <a:rPr kumimoji="1" lang="zh-CN" altLang="en-US" dirty="0"/>
              <a:t>三个皮肤病灶分割数据集上进行了实验。隐式分割集成大小为</a:t>
            </a:r>
            <a:r>
              <a:rPr kumimoji="1" lang="en-US" altLang="zh-CN" dirty="0"/>
              <a:t>5</a:t>
            </a:r>
            <a:r>
              <a:rPr kumimoji="1" lang="zh-CN" altLang="en-US" dirty="0"/>
              <a:t>，采用均值聚合得到最终分割图。</a:t>
            </a:r>
            <a:endParaRPr kumimoji="1" lang="en-US" altLang="zh-CN" dirty="0"/>
          </a:p>
          <a:p>
            <a:br>
              <a:rPr kumimoji="1" lang="en-US" altLang="zh-CN" dirty="0"/>
            </a:br>
            <a:r>
              <a:rPr kumimoji="1" lang="zh-CN" altLang="en-US" dirty="0"/>
              <a:t>定量结果表明，</a:t>
            </a:r>
            <a:r>
              <a:rPr kumimoji="1" lang="en-US" altLang="zh-CN" dirty="0" err="1"/>
              <a:t>FuzzySegDiff</a:t>
            </a:r>
            <a:r>
              <a:rPr kumimoji="1" lang="zh-CN" altLang="en-US" dirty="0"/>
              <a:t>在</a:t>
            </a:r>
            <a:r>
              <a:rPr kumimoji="1" lang="en-US" altLang="zh-CN" dirty="0"/>
              <a:t>DSC</a:t>
            </a:r>
            <a:r>
              <a:rPr kumimoji="1" lang="zh-CN" altLang="en-US" dirty="0"/>
              <a:t>、</a:t>
            </a:r>
            <a:r>
              <a:rPr kumimoji="1" lang="en-US" altLang="zh-CN" dirty="0" err="1"/>
              <a:t>mIoU</a:t>
            </a:r>
            <a:r>
              <a:rPr kumimoji="1" lang="zh-CN" altLang="en-US" dirty="0"/>
              <a:t>和</a:t>
            </a:r>
            <a:r>
              <a:rPr kumimoji="1" lang="en-US" altLang="zh-CN" dirty="0"/>
              <a:t>ACC</a:t>
            </a:r>
            <a:r>
              <a:rPr kumimoji="1" lang="zh-CN" altLang="en-US" dirty="0"/>
              <a:t>等指标上优于</a:t>
            </a:r>
            <a:r>
              <a:rPr kumimoji="1" lang="en-US" altLang="zh-CN" dirty="0" err="1"/>
              <a:t>DermoSegDiff</a:t>
            </a:r>
            <a:r>
              <a:rPr kumimoji="1" lang="zh-CN" altLang="en-US" dirty="0"/>
              <a:t>、</a:t>
            </a:r>
            <a:r>
              <a:rPr kumimoji="1" lang="en-US" altLang="zh-CN" dirty="0"/>
              <a:t>MedSegDiff-V2</a:t>
            </a:r>
            <a:r>
              <a:rPr kumimoji="1" lang="zh-CN" altLang="en-US" dirty="0"/>
              <a:t>等</a:t>
            </a:r>
            <a:r>
              <a:rPr kumimoji="1" lang="en-US" altLang="zh-CN" dirty="0"/>
              <a:t>diffusion</a:t>
            </a:r>
            <a:r>
              <a:rPr kumimoji="1" lang="zh-CN" altLang="en-US" dirty="0"/>
              <a:t>模型以及</a:t>
            </a:r>
            <a:r>
              <a:rPr kumimoji="1" lang="en-US" altLang="zh-CN" dirty="0"/>
              <a:t>CNN</a:t>
            </a:r>
            <a:r>
              <a:rPr kumimoji="1" lang="zh-CN" altLang="en-US" dirty="0"/>
              <a:t>、</a:t>
            </a:r>
            <a:r>
              <a:rPr kumimoji="1" lang="en-US" altLang="zh-CN" dirty="0"/>
              <a:t>VIT</a:t>
            </a:r>
            <a:r>
              <a:rPr kumimoji="1" lang="zh-CN" altLang="en-US" dirty="0"/>
              <a:t>和混合模型，展现了其优越的性能、有效性和泛化性。定性结果（如图 </a:t>
            </a:r>
            <a:r>
              <a:rPr kumimoji="1" lang="en-US" altLang="zh-CN" dirty="0"/>
              <a:t>4</a:t>
            </a:r>
            <a:r>
              <a:rPr kumimoji="1" lang="zh-CN" altLang="en-US" dirty="0"/>
              <a:t>）表明，</a:t>
            </a:r>
            <a:r>
              <a:rPr kumimoji="1" lang="en-US" altLang="zh-CN" dirty="0" err="1"/>
              <a:t>FuzzySegDiff</a:t>
            </a:r>
            <a:r>
              <a:rPr kumimoji="1" lang="en-US" altLang="zh-CN" dirty="0"/>
              <a:t> </a:t>
            </a:r>
            <a:r>
              <a:rPr kumimoji="1" lang="zh-CN" altLang="en-US" dirty="0"/>
              <a:t>能够更准确地分割病灶边界，尤其在处理环状结构病灶时，能有效避免内部分割，显示了对类别内一致性的优势。</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9</a:t>
            </a:fld>
            <a:endParaRPr lang="zh-CN" altLang="en-US"/>
          </a:p>
        </p:txBody>
      </p:sp>
    </p:spTree>
    <p:extLst>
      <p:ext uri="{BB962C8B-B14F-4D97-AF65-F5344CB8AC3E}">
        <p14:creationId xmlns:p14="http://schemas.microsoft.com/office/powerpoint/2010/main" val="2828016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1">
          <a:gsLst>
            <a:gs pos="0">
              <a:schemeClr val="bg1"/>
            </a:gs>
            <a:gs pos="100000">
              <a:schemeClr val="bg1">
                <a:lumMod val="85000"/>
              </a:schemeClr>
            </a:gs>
          </a:gsLst>
          <a:lin ang="5400000" scaled="0"/>
        </a:gra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65000"/>
                    <a:lumOff val="3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lumMod val="65000"/>
                    <a:lumOff val="3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solidFill>
                  <a:schemeClr val="tx1">
                    <a:lumMod val="85000"/>
                    <a:lumOff val="15000"/>
                  </a:schemeClr>
                </a:solidFill>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65000"/>
                    <a:lumOff val="35000"/>
                  </a:schemeClr>
                </a:solidFill>
              </a:defRPr>
            </a:lvl1pPr>
            <a:lvl2pPr>
              <a:lnSpc>
                <a:spcPct val="90000"/>
              </a:lnSpc>
              <a:defRPr sz="2400">
                <a:solidFill>
                  <a:schemeClr val="tx1">
                    <a:lumMod val="65000"/>
                    <a:lumOff val="35000"/>
                  </a:schemeClr>
                </a:solidFill>
              </a:defRPr>
            </a:lvl2pPr>
            <a:lvl3pPr>
              <a:lnSpc>
                <a:spcPct val="90000"/>
              </a:lnSpc>
              <a:defRPr sz="2000">
                <a:solidFill>
                  <a:schemeClr val="tx1">
                    <a:lumMod val="65000"/>
                    <a:lumOff val="35000"/>
                  </a:schemeClr>
                </a:solidFill>
              </a:defRPr>
            </a:lvl3pPr>
            <a:lvl4pPr>
              <a:lnSpc>
                <a:spcPct val="90000"/>
              </a:lnSpc>
              <a:defRPr sz="1800">
                <a:solidFill>
                  <a:schemeClr val="tx1">
                    <a:lumMod val="65000"/>
                    <a:lumOff val="35000"/>
                  </a:schemeClr>
                </a:solidFill>
              </a:defRPr>
            </a:lvl4pPr>
            <a:lvl5pPr>
              <a:lnSpc>
                <a:spcPct val="90000"/>
              </a:lnSpc>
              <a:defRPr sz="18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65000"/>
                    <a:lumOff val="35000"/>
                  </a:schemeClr>
                </a:solidFill>
              </a:defRPr>
            </a:lvl1pPr>
            <a:lvl2pPr>
              <a:lnSpc>
                <a:spcPct val="90000"/>
              </a:lnSpc>
              <a:defRPr sz="2400">
                <a:solidFill>
                  <a:schemeClr val="tx1">
                    <a:lumMod val="65000"/>
                    <a:lumOff val="35000"/>
                  </a:schemeClr>
                </a:solidFill>
              </a:defRPr>
            </a:lvl2pPr>
            <a:lvl3pPr>
              <a:lnSpc>
                <a:spcPct val="90000"/>
              </a:lnSpc>
              <a:defRPr sz="2000">
                <a:solidFill>
                  <a:schemeClr val="tx1">
                    <a:lumMod val="65000"/>
                    <a:lumOff val="35000"/>
                  </a:schemeClr>
                </a:solidFill>
              </a:defRPr>
            </a:lvl3pPr>
            <a:lvl4pPr>
              <a:lnSpc>
                <a:spcPct val="90000"/>
              </a:lnSpc>
              <a:defRPr sz="1800">
                <a:solidFill>
                  <a:schemeClr val="tx1">
                    <a:lumMod val="65000"/>
                    <a:lumOff val="35000"/>
                  </a:schemeClr>
                </a:solidFill>
              </a:defRPr>
            </a:lvl4pPr>
            <a:lvl5pPr>
              <a:lnSpc>
                <a:spcPct val="90000"/>
              </a:lnSpc>
              <a:defRPr sz="18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2026/3/21</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2026/3/21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2026/3/21</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4.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comments" Target="../comments/comment1.xml"/><Relationship Id="rId4" Type="http://schemas.openxmlformats.org/officeDocument/2006/relationships/notesSlide" Target="../notesSlides/notesSlide3.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10.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2324735"/>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2" name="标题 1"/>
          <p:cNvSpPr>
            <a:spLocks noGrp="1"/>
          </p:cNvSpPr>
          <p:nvPr>
            <p:ph type="ctrTitle"/>
          </p:nvPr>
        </p:nvSpPr>
        <p:spPr>
          <a:xfrm>
            <a:off x="0" y="2324732"/>
            <a:ext cx="12192000" cy="1524000"/>
          </a:xfrm>
        </p:spPr>
        <p:txBody>
          <a:bodyPr>
            <a:noAutofit/>
          </a:bodyPr>
          <a:lstStyle/>
          <a:p>
            <a:r>
              <a:rPr lang="zh-CN" altLang="en-US" sz="3200" dirty="0">
                <a:solidFill>
                  <a:srgbClr val="FFFFFF"/>
                </a:solidFill>
                <a:latin typeface="微软雅黑" panose="020B0503020204020204" pitchFamily="34" charset="-122"/>
                <a:ea typeface="微软雅黑" panose="020B0503020204020204" pitchFamily="34" charset="-122"/>
              </a:rPr>
              <a:t>基于扩散模型的模糊医学图像分割</a:t>
            </a:r>
            <a:r>
              <a:rPr lang="zh-CN" altLang="zh-CN" sz="3200" dirty="0">
                <a:solidFill>
                  <a:schemeClr val="bg1"/>
                </a:solidFill>
                <a:latin typeface="微软雅黑" panose="020B0503020204020204" charset="-122"/>
                <a:ea typeface="微软雅黑" panose="020B0503020204020204" charset="-122"/>
              </a:rPr>
              <a:t>方法</a:t>
            </a:r>
            <a:br>
              <a:rPr lang="zh-CN" altLang="zh-CN" sz="1800" kern="100" dirty="0">
                <a:effectLst/>
                <a:latin typeface="Times New Roman" panose="02020603050405020304" pitchFamily="18" charset="0"/>
                <a:ea typeface="宋体" panose="02010600030101010101" pitchFamily="2" charset="-122"/>
              </a:rPr>
            </a:br>
            <a:endParaRPr lang="en-US" altLang="zh-CN" sz="3200" dirty="0">
              <a:solidFill>
                <a:schemeClr val="bg1"/>
              </a:solidFill>
              <a:effectLst/>
              <a:uFillTx/>
              <a:latin typeface="微软雅黑" panose="020B0503020204020204" charset="-122"/>
              <a:ea typeface="微软雅黑" panose="020B0503020204020204" charset="-122"/>
            </a:endParaRPr>
          </a:p>
        </p:txBody>
      </p:sp>
      <p:sp>
        <p:nvSpPr>
          <p:cNvPr id="5" name="副标题 4"/>
          <p:cNvSpPr>
            <a:spLocks noGrp="1"/>
          </p:cNvSpPr>
          <p:nvPr>
            <p:ph type="subTitle" idx="1"/>
          </p:nvPr>
        </p:nvSpPr>
        <p:spPr>
          <a:xfrm>
            <a:off x="1669415" y="5622608"/>
            <a:ext cx="9144000" cy="1655762"/>
          </a:xfrm>
        </p:spPr>
        <p:txBody>
          <a:bodyPr/>
          <a:lstStyle/>
          <a:p>
            <a:pPr algn="ctr"/>
            <a:r>
              <a:rPr lang="zh-CN" altLang="en-US" sz="1800" dirty="0">
                <a:latin typeface="微软雅黑" panose="020B0503020204020204" charset="-122"/>
                <a:ea typeface="微软雅黑" panose="020B0503020204020204" charset="-122"/>
                <a:cs typeface="微软雅黑" panose="020B0503020204020204" charset="-122"/>
              </a:rPr>
              <a:t>刘牧宇</a:t>
            </a:r>
            <a:endParaRPr lang="en-US" altLang="zh-CN" sz="1800" dirty="0">
              <a:latin typeface="微软雅黑" panose="020B0503020204020204" charset="-122"/>
              <a:ea typeface="微软雅黑" panose="020B0503020204020204" charset="-122"/>
              <a:cs typeface="微软雅黑" panose="020B0503020204020204" charset="-122"/>
            </a:endParaRPr>
          </a:p>
          <a:p>
            <a:pPr algn="ctr"/>
            <a:r>
              <a:rPr lang="en-US" altLang="zh-CN" sz="1800" dirty="0">
                <a:latin typeface="微软雅黑" panose="020B0503020204020204" charset="-122"/>
                <a:ea typeface="微软雅黑" panose="020B0503020204020204" charset="-122"/>
                <a:cs typeface="微软雅黑" panose="020B0503020204020204" charset="-122"/>
              </a:rPr>
              <a:t>2026/ 3/ 09</a:t>
            </a:r>
          </a:p>
        </p:txBody>
      </p:sp>
      <p:pic>
        <p:nvPicPr>
          <p:cNvPr id="3" name="图片 2"/>
          <p:cNvPicPr>
            <a:picLocks noChangeAspect="1"/>
          </p:cNvPicPr>
          <p:nvPr/>
        </p:nvPicPr>
        <p:blipFill>
          <a:blip r:embed="rId3"/>
          <a:stretch>
            <a:fillRect/>
          </a:stretch>
        </p:blipFill>
        <p:spPr>
          <a:xfrm>
            <a:off x="7425690" y="0"/>
            <a:ext cx="5715000" cy="101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2324735"/>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 name="标题 1"/>
          <p:cNvSpPr>
            <a:spLocks noGrp="1"/>
          </p:cNvSpPr>
          <p:nvPr>
            <p:ph type="ctrTitle"/>
          </p:nvPr>
        </p:nvSpPr>
        <p:spPr>
          <a:xfrm>
            <a:off x="0" y="2324734"/>
            <a:ext cx="12192000" cy="1524000"/>
          </a:xfrm>
        </p:spPr>
        <p:txBody>
          <a:bodyPr anchor="ctr" anchorCtr="0">
            <a:noAutofit/>
          </a:bodyPr>
          <a:lstStyle/>
          <a:p>
            <a:r>
              <a:rPr lang="zh-CN" altLang="en-US" sz="3200" dirty="0">
                <a:solidFill>
                  <a:schemeClr val="bg1"/>
                </a:solidFill>
                <a:effectLst/>
                <a:uFillTx/>
                <a:latin typeface="微软雅黑" panose="020B0503020204020204" charset="-122"/>
                <a:ea typeface="微软雅黑" panose="020B0503020204020204" charset="-122"/>
              </a:rPr>
              <a:t>研究背景</a:t>
            </a:r>
            <a:endParaRPr lang="en-US" altLang="zh-CN" sz="3200" dirty="0">
              <a:solidFill>
                <a:schemeClr val="bg1"/>
              </a:solidFill>
              <a:effectLst/>
              <a:uFillTx/>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3"/>
          <a:stretch>
            <a:fillRect/>
          </a:stretch>
        </p:blipFill>
        <p:spPr>
          <a:xfrm>
            <a:off x="7425690" y="0"/>
            <a:ext cx="5715000" cy="101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a:stretch>
            <a:fillRect/>
          </a:stretch>
        </p:blipFill>
        <p:spPr>
          <a:xfrm>
            <a:off x="8816340" y="6120130"/>
            <a:ext cx="3771900" cy="670560"/>
          </a:xfrm>
          <a:prstGeom prst="rect">
            <a:avLst/>
          </a:prstGeom>
        </p:spPr>
      </p:pic>
      <p:sp>
        <p:nvSpPr>
          <p:cNvPr id="9" name="矩形 8"/>
          <p:cNvSpPr/>
          <p:nvPr/>
        </p:nvSpPr>
        <p:spPr>
          <a:xfrm>
            <a:off x="-3810" y="-11430"/>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366440" y="458182"/>
            <a:ext cx="10626387" cy="583565"/>
          </a:xfrm>
          <a:prstGeom prst="rect">
            <a:avLst/>
          </a:prstGeom>
          <a:noFill/>
        </p:spPr>
        <p:txBody>
          <a:bodyPr wrap="square">
            <a:spAutoFit/>
          </a:bodyPr>
          <a:lstStyle/>
          <a:p>
            <a:pPr indent="0">
              <a:buFont typeface="+mj-lt"/>
              <a:buNone/>
            </a:pPr>
            <a:r>
              <a:rPr lang="zh-CN" altLang="en-US" sz="3200" dirty="0">
                <a:solidFill>
                  <a:schemeClr val="bg1"/>
                </a:solidFill>
                <a:latin typeface="微软雅黑" panose="020B0503020204020204" charset="-122"/>
                <a:ea typeface="微软雅黑" panose="020B0503020204020204" charset="-122"/>
                <a:sym typeface="+mn-ea"/>
              </a:rPr>
              <a:t>研究背景</a:t>
            </a:r>
            <a:endParaRPr lang="en-US" sz="3200" dirty="0">
              <a:solidFill>
                <a:schemeClr val="bg1"/>
              </a:solidFill>
              <a:latin typeface="微软雅黑" panose="020B0503020204020204" charset="-122"/>
              <a:ea typeface="微软雅黑" panose="020B0503020204020204" charset="-122"/>
              <a:sym typeface="+mn-ea"/>
            </a:endParaRPr>
          </a:p>
        </p:txBody>
      </p:sp>
      <p:sp>
        <p:nvSpPr>
          <p:cNvPr id="11" name="文本框 10"/>
          <p:cNvSpPr txBox="1"/>
          <p:nvPr/>
        </p:nvSpPr>
        <p:spPr>
          <a:xfrm>
            <a:off x="7425055" y="1612900"/>
            <a:ext cx="8397875" cy="2847340"/>
          </a:xfrm>
          <a:prstGeom prst="rect">
            <a:avLst/>
          </a:prstGeom>
          <a:noFill/>
        </p:spPr>
        <p:txBody>
          <a:bodyPr wrap="square" rtlCol="0">
            <a:noAutofit/>
          </a:bodyPr>
          <a:lstStyle/>
          <a:p>
            <a:pPr marL="342900" indent="-342900">
              <a:lnSpc>
                <a:spcPct val="150000"/>
              </a:lnSpc>
              <a:buFont typeface="+mj-lt"/>
              <a:buAutoNum type="arabicPeriod"/>
            </a:pPr>
            <a:endParaRPr lang="en-US" dirty="0">
              <a:latin typeface="微软雅黑" panose="020B0503020204020204" charset="-122"/>
              <a:ea typeface="微软雅黑" panose="020B0503020204020204" charset="-122"/>
            </a:endParaRPr>
          </a:p>
        </p:txBody>
      </p:sp>
      <p:sp>
        <p:nvSpPr>
          <p:cNvPr id="2" name="文本框 1"/>
          <p:cNvSpPr txBox="1"/>
          <p:nvPr>
            <p:custDataLst>
              <p:tags r:id="rId1"/>
            </p:custDataLst>
          </p:nvPr>
        </p:nvSpPr>
        <p:spPr>
          <a:xfrm>
            <a:off x="488103" y="1599588"/>
            <a:ext cx="11636375" cy="1088737"/>
          </a:xfrm>
          <a:prstGeom prst="rect">
            <a:avLst/>
          </a:prstGeom>
          <a:noFill/>
        </p:spPr>
        <p:txBody>
          <a:bodyPr wrap="square" rtlCol="0" anchor="t">
            <a:noAutofit/>
          </a:bodyPr>
          <a:lstStyle/>
          <a:p>
            <a:pPr marL="342900" indent="-342900">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医学图像分割，</a:t>
            </a:r>
            <a:r>
              <a:rPr lang="zh-CN" altLang="en-US" sz="1800" dirty="0">
                <a:latin typeface="华文中宋" panose="02010600040101010101" pitchFamily="2" charset="-122"/>
                <a:ea typeface="华文中宋" panose="02010600040101010101" pitchFamily="2" charset="-122"/>
              </a:rPr>
              <a:t>旨在从复杂的影像数据中提取目标器官、病变区域或其他感兴趣区域的轮廓</a:t>
            </a:r>
            <a:r>
              <a:rPr lang="zh-CN" altLang="en-US" sz="1800" dirty="0">
                <a:solidFill>
                  <a:srgbClr val="000000"/>
                </a:solidFill>
                <a:effectLst/>
                <a:latin typeface="华文中宋" panose="02010600040101010101" pitchFamily="2" charset="-122"/>
                <a:ea typeface="华文中宋" panose="02010600040101010101" pitchFamily="2" charset="-122"/>
              </a:rPr>
              <a:t>，以便于医学从业者或后续任务进行分析和使用。</a:t>
            </a:r>
            <a:endParaRPr lang="en-US" altLang="zh-CN" sz="2000" dirty="0">
              <a:latin typeface="华文中宋" panose="02010600040101010101" pitchFamily="2" charset="-122"/>
              <a:ea typeface="华文中宋" panose="02010600040101010101" pitchFamily="2" charset="-122"/>
            </a:endParaRPr>
          </a:p>
        </p:txBody>
      </p:sp>
      <p:sp>
        <p:nvSpPr>
          <p:cNvPr id="12" name="文本框 11">
            <a:extLst>
              <a:ext uri="{FF2B5EF4-FFF2-40B4-BE49-F238E27FC236}">
                <a16:creationId xmlns:a16="http://schemas.microsoft.com/office/drawing/2014/main" id="{3681C3EF-DA07-419C-93E7-64F49D287B95}"/>
              </a:ext>
            </a:extLst>
          </p:cNvPr>
          <p:cNvSpPr txBox="1"/>
          <p:nvPr>
            <p:custDataLst>
              <p:tags r:id="rId2"/>
            </p:custDataLst>
          </p:nvPr>
        </p:nvSpPr>
        <p:spPr>
          <a:xfrm>
            <a:off x="284203" y="5359891"/>
            <a:ext cx="11491332" cy="804792"/>
          </a:xfrm>
          <a:prstGeom prst="rect">
            <a:avLst/>
          </a:prstGeom>
          <a:noFill/>
        </p:spPr>
        <p:txBody>
          <a:bodyPr wrap="square" rtlCol="0" anchor="t">
            <a:noAutofit/>
          </a:bodyPr>
          <a:lstStyle/>
          <a:p>
            <a:pPr marL="342900" indent="-342900">
              <a:buFont typeface="Arial" panose="020B0604020202020204" pitchFamily="34" charset="0"/>
              <a:buChar char="•"/>
            </a:pPr>
            <a:r>
              <a:rPr lang="zh-CN" altLang="en-US" sz="2000" b="1" dirty="0">
                <a:solidFill>
                  <a:srgbClr val="1C2127"/>
                </a:solidFill>
                <a:latin typeface="-apple-system"/>
              </a:rPr>
              <a:t>外部</a:t>
            </a:r>
            <a:r>
              <a:rPr lang="zh-CN" altLang="en-US" sz="2000" b="1" i="0" dirty="0">
                <a:solidFill>
                  <a:srgbClr val="1C2127"/>
                </a:solidFill>
                <a:effectLst/>
                <a:latin typeface="-apple-system"/>
              </a:rPr>
              <a:t>干扰：</a:t>
            </a:r>
            <a:r>
              <a:rPr lang="zh-CN" altLang="en-US" sz="2000" i="0" dirty="0">
                <a:solidFill>
                  <a:srgbClr val="1C2127"/>
                </a:solidFill>
                <a:effectLst/>
                <a:latin typeface="-apple-system"/>
              </a:rPr>
              <a:t>成像条件</a:t>
            </a:r>
            <a:r>
              <a:rPr lang="zh-CN" altLang="en-US" sz="2000" dirty="0"/>
              <a:t>、运动伪影、毛发血管遮罩等加剧图像模糊，使边界难以精确定位</a:t>
            </a:r>
            <a:endParaRPr lang="en-US" altLang="zh-CN" sz="2000" dirty="0"/>
          </a:p>
          <a:p>
            <a:pPr marL="342900" indent="-342900">
              <a:buFont typeface="Arial" panose="020B0604020202020204" pitchFamily="34" charset="0"/>
              <a:buChar char="•"/>
            </a:pPr>
            <a:r>
              <a:rPr lang="zh-CN" altLang="en-US" sz="2000" b="1" dirty="0">
                <a:solidFill>
                  <a:srgbClr val="1C2127"/>
                </a:solidFill>
                <a:latin typeface="-apple-system"/>
              </a:rPr>
              <a:t>内部因素：</a:t>
            </a:r>
            <a:r>
              <a:rPr lang="zh-CN" altLang="en-US" sz="2000" b="0" i="0" dirty="0">
                <a:solidFill>
                  <a:srgbClr val="1C2127"/>
                </a:solidFill>
                <a:effectLst/>
                <a:latin typeface="-apple-system"/>
              </a:rPr>
              <a:t>病变特征的异质性导致类别内特征不一致，同时</a:t>
            </a:r>
            <a:r>
              <a:rPr lang="zh-CN" altLang="en-US" sz="2000" dirty="0"/>
              <a:t>病理特性使得病灶边界呈现软边界，</a:t>
            </a:r>
            <a:endParaRPr lang="en-US" altLang="zh-CN" sz="2000" b="0" i="0" dirty="0">
              <a:solidFill>
                <a:srgbClr val="1C2127"/>
              </a:solidFill>
              <a:effectLst/>
              <a:latin typeface="-apple-system"/>
            </a:endParaRPr>
          </a:p>
        </p:txBody>
      </p:sp>
      <p:pic>
        <p:nvPicPr>
          <p:cNvPr id="10" name="图片 9">
            <a:extLst>
              <a:ext uri="{FF2B5EF4-FFF2-40B4-BE49-F238E27FC236}">
                <a16:creationId xmlns:a16="http://schemas.microsoft.com/office/drawing/2014/main" id="{877D57D8-CD08-4063-8BBF-C53EE55DDBB7}"/>
              </a:ext>
            </a:extLst>
          </p:cNvPr>
          <p:cNvPicPr>
            <a:picLocks noChangeAspect="1"/>
          </p:cNvPicPr>
          <p:nvPr/>
        </p:nvPicPr>
        <p:blipFill>
          <a:blip r:embed="rId6"/>
          <a:stretch>
            <a:fillRect/>
          </a:stretch>
        </p:blipFill>
        <p:spPr>
          <a:xfrm>
            <a:off x="2303326" y="2199271"/>
            <a:ext cx="3862990" cy="1500730"/>
          </a:xfrm>
          <a:prstGeom prst="rect">
            <a:avLst/>
          </a:prstGeom>
        </p:spPr>
      </p:pic>
      <p:pic>
        <p:nvPicPr>
          <p:cNvPr id="21" name="图片 20">
            <a:extLst>
              <a:ext uri="{FF2B5EF4-FFF2-40B4-BE49-F238E27FC236}">
                <a16:creationId xmlns:a16="http://schemas.microsoft.com/office/drawing/2014/main" id="{B202EE8D-6D4F-4EB7-8197-431BAF48CBB7}"/>
              </a:ext>
            </a:extLst>
          </p:cNvPr>
          <p:cNvPicPr>
            <a:picLocks noChangeAspect="1"/>
          </p:cNvPicPr>
          <p:nvPr/>
        </p:nvPicPr>
        <p:blipFill rotWithShape="1">
          <a:blip r:embed="rId7"/>
          <a:srcRect r="72091"/>
          <a:stretch/>
        </p:blipFill>
        <p:spPr>
          <a:xfrm>
            <a:off x="6369099" y="2266239"/>
            <a:ext cx="2706075" cy="2702953"/>
          </a:xfrm>
          <a:prstGeom prst="rect">
            <a:avLst/>
          </a:prstGeom>
        </p:spPr>
      </p:pic>
      <p:pic>
        <p:nvPicPr>
          <p:cNvPr id="6" name="图片 5">
            <a:extLst>
              <a:ext uri="{FF2B5EF4-FFF2-40B4-BE49-F238E27FC236}">
                <a16:creationId xmlns:a16="http://schemas.microsoft.com/office/drawing/2014/main" id="{0EAF4E97-525D-4C13-8730-022FCD54B97F}"/>
              </a:ext>
            </a:extLst>
          </p:cNvPr>
          <p:cNvPicPr>
            <a:picLocks noChangeAspect="1"/>
          </p:cNvPicPr>
          <p:nvPr/>
        </p:nvPicPr>
        <p:blipFill>
          <a:blip r:embed="rId8"/>
          <a:stretch>
            <a:fillRect/>
          </a:stretch>
        </p:blipFill>
        <p:spPr>
          <a:xfrm>
            <a:off x="2663196" y="3693477"/>
            <a:ext cx="1571625" cy="1533525"/>
          </a:xfrm>
          <a:prstGeom prst="rect">
            <a:avLst/>
          </a:prstGeom>
        </p:spPr>
      </p:pic>
      <p:pic>
        <p:nvPicPr>
          <p:cNvPr id="8" name="图片 7">
            <a:extLst>
              <a:ext uri="{FF2B5EF4-FFF2-40B4-BE49-F238E27FC236}">
                <a16:creationId xmlns:a16="http://schemas.microsoft.com/office/drawing/2014/main" id="{8AE5FE10-AB51-435F-B4A7-47505D4068A0}"/>
              </a:ext>
            </a:extLst>
          </p:cNvPr>
          <p:cNvPicPr>
            <a:picLocks noChangeAspect="1"/>
          </p:cNvPicPr>
          <p:nvPr/>
        </p:nvPicPr>
        <p:blipFill>
          <a:blip r:embed="rId9"/>
          <a:stretch>
            <a:fillRect/>
          </a:stretch>
        </p:blipFill>
        <p:spPr>
          <a:xfrm>
            <a:off x="4245019" y="3692629"/>
            <a:ext cx="1577883" cy="15288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8816340" y="6120130"/>
            <a:ext cx="3771900" cy="670560"/>
          </a:xfrm>
          <a:prstGeom prst="rect">
            <a:avLst/>
          </a:prstGeom>
        </p:spPr>
      </p:pic>
      <p:sp>
        <p:nvSpPr>
          <p:cNvPr id="9" name="矩形 8"/>
          <p:cNvSpPr/>
          <p:nvPr/>
        </p:nvSpPr>
        <p:spPr>
          <a:xfrm>
            <a:off x="-3810" y="-11430"/>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366440" y="470882"/>
            <a:ext cx="10626387" cy="583565"/>
          </a:xfrm>
          <a:prstGeom prst="rect">
            <a:avLst/>
          </a:prstGeom>
          <a:noFill/>
        </p:spPr>
        <p:txBody>
          <a:bodyPr wrap="square">
            <a:spAutoFit/>
          </a:bodyPr>
          <a:lstStyle/>
          <a:p>
            <a:pPr indent="0">
              <a:buFont typeface="+mj-lt"/>
              <a:buNone/>
            </a:pPr>
            <a:r>
              <a:rPr lang="zh-CN" altLang="en-US" sz="3200" dirty="0">
                <a:solidFill>
                  <a:schemeClr val="bg1"/>
                </a:solidFill>
                <a:latin typeface="微软雅黑" panose="020B0503020204020204" charset="-122"/>
                <a:ea typeface="微软雅黑" panose="020B0503020204020204" charset="-122"/>
                <a:sym typeface="+mn-ea"/>
              </a:rPr>
              <a:t>问题</a:t>
            </a:r>
            <a:endParaRPr lang="en-US" sz="3200" dirty="0">
              <a:solidFill>
                <a:schemeClr val="bg1"/>
              </a:solidFill>
              <a:latin typeface="微软雅黑" panose="020B0503020204020204" charset="-122"/>
              <a:ea typeface="微软雅黑" panose="020B0503020204020204" charset="-122"/>
              <a:sym typeface="+mn-ea"/>
            </a:endParaRPr>
          </a:p>
        </p:txBody>
      </p:sp>
      <p:sp>
        <p:nvSpPr>
          <p:cNvPr id="2" name="文本框 1"/>
          <p:cNvSpPr txBox="1"/>
          <p:nvPr>
            <p:custDataLst>
              <p:tags r:id="rId1"/>
            </p:custDataLst>
          </p:nvPr>
        </p:nvSpPr>
        <p:spPr>
          <a:xfrm>
            <a:off x="103506" y="1726449"/>
            <a:ext cx="5156753" cy="1524001"/>
          </a:xfrm>
          <a:prstGeom prst="rect">
            <a:avLst/>
          </a:prstGeom>
          <a:noFill/>
        </p:spPr>
        <p:txBody>
          <a:bodyPr wrap="square" rtlCol="0" anchor="t">
            <a:noAutofit/>
          </a:bodyPr>
          <a:lstStyle/>
          <a:p>
            <a:pPr marL="285750" indent="-285750">
              <a:buFont typeface="Wingdings" panose="05000000000000000000" charset="0"/>
              <a:buChar char=""/>
            </a:pPr>
            <a:endParaRPr lang="zh-CN" altLang="en-US" sz="2400" dirty="0"/>
          </a:p>
          <a:p>
            <a:r>
              <a:rPr lang="zh-CN" altLang="en-US" sz="2000" kern="100" dirty="0">
                <a:effectLst/>
                <a:latin typeface="Times New Roman" panose="02020603050405020304" pitchFamily="18" charset="0"/>
                <a:ea typeface="华文中宋" panose="02010600040101010101" pitchFamily="2" charset="-122"/>
              </a:rPr>
              <a:t>以往基于确定性模型的医学图像分割方法：</a:t>
            </a:r>
          </a:p>
          <a:p>
            <a:r>
              <a:rPr lang="zh-CN" altLang="en-US" sz="2000" kern="100" dirty="0">
                <a:effectLst/>
                <a:latin typeface="Times New Roman" panose="02020603050405020304" pitchFamily="18" charset="0"/>
                <a:ea typeface="华文中宋" panose="02010600040101010101" pitchFamily="2" charset="-122"/>
              </a:rPr>
              <a:t>具有强大的特征提取能力，能够充分挖掘图像信息，实现精准高效的医学图像分割</a:t>
            </a:r>
          </a:p>
          <a:p>
            <a:pPr marL="342900" indent="-342900">
              <a:buFont typeface="Arial" panose="020B0604020202020204" pitchFamily="34" charset="0"/>
              <a:buChar char="•"/>
            </a:pPr>
            <a:r>
              <a:rPr lang="en-US" altLang="zh-CN" sz="2000" kern="100" dirty="0">
                <a:effectLst/>
                <a:latin typeface="Times New Roman" panose="02020603050405020304" pitchFamily="18" charset="0"/>
                <a:ea typeface="华文中宋" panose="02010600040101010101" pitchFamily="2" charset="-122"/>
              </a:rPr>
              <a:t>CNN</a:t>
            </a:r>
            <a:r>
              <a:rPr lang="zh-CN" altLang="en-US" sz="2000" kern="100" dirty="0">
                <a:effectLst/>
                <a:latin typeface="Times New Roman" panose="02020603050405020304" pitchFamily="18" charset="0"/>
                <a:ea typeface="华文中宋" panose="02010600040101010101" pitchFamily="2" charset="-122"/>
              </a:rPr>
              <a:t>（ </a:t>
            </a:r>
            <a:r>
              <a:rPr lang="en-US" altLang="zh-CN" sz="2000" kern="100" dirty="0">
                <a:effectLst/>
                <a:latin typeface="Times New Roman" panose="02020603050405020304" pitchFamily="18" charset="0"/>
                <a:ea typeface="华文中宋" panose="02010600040101010101" pitchFamily="2" charset="-122"/>
              </a:rPr>
              <a:t>U-Net </a:t>
            </a:r>
            <a:r>
              <a:rPr lang="zh-CN" altLang="en-US" sz="2000" kern="100" dirty="0">
                <a:effectLst/>
                <a:latin typeface="Times New Roman" panose="02020603050405020304" pitchFamily="18" charset="0"/>
                <a:ea typeface="华文中宋" panose="02010600040101010101" pitchFamily="2" charset="-122"/>
              </a:rPr>
              <a:t>）</a:t>
            </a:r>
          </a:p>
          <a:p>
            <a:pPr marL="342900" indent="-342900">
              <a:buFont typeface="Arial" panose="020B0604020202020204" pitchFamily="34" charset="0"/>
              <a:buChar char="•"/>
            </a:pPr>
            <a:r>
              <a:rPr lang="en-US" altLang="zh-CN" sz="2000" kern="100" dirty="0">
                <a:effectLst/>
                <a:latin typeface="Times New Roman" panose="02020603050405020304" pitchFamily="18" charset="0"/>
                <a:ea typeface="华文中宋" panose="02010600040101010101" pitchFamily="2" charset="-122"/>
              </a:rPr>
              <a:t>Transformer</a:t>
            </a:r>
            <a:r>
              <a:rPr lang="zh-CN" altLang="en-US" sz="2000" kern="100" dirty="0">
                <a:effectLst/>
                <a:latin typeface="Times New Roman" panose="02020603050405020304" pitchFamily="18" charset="0"/>
                <a:ea typeface="华文中宋" panose="02010600040101010101" pitchFamily="2" charset="-122"/>
              </a:rPr>
              <a:t>（</a:t>
            </a:r>
            <a:r>
              <a:rPr lang="en-US" altLang="zh-CN" sz="2000" kern="100" dirty="0">
                <a:effectLst/>
                <a:latin typeface="Times New Roman" panose="02020603050405020304" pitchFamily="18" charset="0"/>
                <a:ea typeface="华文中宋" panose="02010600040101010101" pitchFamily="2" charset="-122"/>
              </a:rPr>
              <a:t>VIT</a:t>
            </a:r>
            <a:r>
              <a:rPr lang="zh-CN" altLang="en-US" sz="2000" kern="100" dirty="0">
                <a:effectLst/>
                <a:latin typeface="Times New Roman" panose="02020603050405020304" pitchFamily="18" charset="0"/>
                <a:ea typeface="华文中宋" panose="02010600040101010101" pitchFamily="2" charset="-122"/>
              </a:rPr>
              <a:t>）</a:t>
            </a:r>
          </a:p>
          <a:p>
            <a:pPr marL="342900" indent="-342900">
              <a:buFont typeface="Arial" panose="020B0604020202020204" pitchFamily="34" charset="0"/>
              <a:buChar char="•"/>
            </a:pPr>
            <a:r>
              <a:rPr lang="en-US" altLang="zh-CN" sz="2000" kern="100" dirty="0" err="1">
                <a:effectLst/>
                <a:latin typeface="Times New Roman" panose="02020603050405020304" pitchFamily="18" charset="0"/>
                <a:ea typeface="华文中宋" panose="02010600040101010101" pitchFamily="2" charset="-122"/>
              </a:rPr>
              <a:t>CNN+Transformer</a:t>
            </a:r>
            <a:endParaRPr lang="en-US" altLang="zh-CN" sz="2000" kern="100" dirty="0">
              <a:effectLst/>
              <a:latin typeface="Times New Roman" panose="02020603050405020304" pitchFamily="18" charset="0"/>
              <a:ea typeface="华文中宋" panose="02010600040101010101" pitchFamily="2" charset="-122"/>
            </a:endParaRPr>
          </a:p>
        </p:txBody>
      </p:sp>
      <p:sp>
        <p:nvSpPr>
          <p:cNvPr id="20" name="文本框 19">
            <a:extLst>
              <a:ext uri="{FF2B5EF4-FFF2-40B4-BE49-F238E27FC236}">
                <a16:creationId xmlns:a16="http://schemas.microsoft.com/office/drawing/2014/main" id="{6EF4C9BD-2A29-4E1A-B2D7-554FB2221820}"/>
              </a:ext>
            </a:extLst>
          </p:cNvPr>
          <p:cNvSpPr txBox="1"/>
          <p:nvPr/>
        </p:nvSpPr>
        <p:spPr>
          <a:xfrm>
            <a:off x="103506" y="4144748"/>
            <a:ext cx="5546003" cy="2585323"/>
          </a:xfrm>
          <a:prstGeom prst="rect">
            <a:avLst/>
          </a:prstGeom>
          <a:noFill/>
        </p:spPr>
        <p:txBody>
          <a:bodyPr wrap="square">
            <a:spAutoFit/>
          </a:bodyPr>
          <a:lstStyle/>
          <a:p>
            <a:r>
              <a:rPr lang="zh-CN" altLang="en-US" dirty="0">
                <a:solidFill>
                  <a:srgbClr val="1A1C1E"/>
                </a:solidFill>
                <a:latin typeface="Inter"/>
              </a:rPr>
              <a:t>确定性</a:t>
            </a:r>
            <a:r>
              <a:rPr lang="zh-CN" altLang="en-US" b="0" i="0" dirty="0">
                <a:solidFill>
                  <a:srgbClr val="1A1C1E"/>
                </a:solidFill>
                <a:effectLst/>
                <a:latin typeface="Inter"/>
              </a:rPr>
              <a:t>模型的主要缺点：</a:t>
            </a:r>
            <a:endParaRPr lang="en-US" altLang="zh-CN" b="0" i="0" dirty="0">
              <a:solidFill>
                <a:srgbClr val="1A1C1E"/>
              </a:solidFill>
              <a:effectLst/>
              <a:latin typeface="Inter"/>
            </a:endParaRPr>
          </a:p>
          <a:p>
            <a:endParaRPr lang="en-US" altLang="zh-CN" b="0" i="0" dirty="0">
              <a:solidFill>
                <a:srgbClr val="1A1C1E"/>
              </a:solidFill>
              <a:effectLst/>
              <a:latin typeface="Inter"/>
            </a:endParaRPr>
          </a:p>
          <a:p>
            <a:r>
              <a:rPr lang="zh-CN" altLang="en-US" dirty="0"/>
              <a:t>（</a:t>
            </a:r>
            <a:r>
              <a:rPr lang="en-US" altLang="zh-CN" dirty="0"/>
              <a:t>1</a:t>
            </a:r>
            <a:r>
              <a:rPr lang="zh-CN" altLang="en-US" dirty="0"/>
              <a:t>）</a:t>
            </a:r>
            <a:r>
              <a:rPr lang="zh-CN" altLang="en-US" b="1" dirty="0"/>
              <a:t>不确定性建模不足</a:t>
            </a:r>
            <a:r>
              <a:rPr lang="zh-CN" altLang="en-US" dirty="0"/>
              <a:t>：逐像素方法输出单一确定性预测，无法刻画分割不确定性。</a:t>
            </a:r>
          </a:p>
          <a:p>
            <a:r>
              <a:rPr lang="zh-CN" altLang="en-US" dirty="0"/>
              <a:t>（</a:t>
            </a:r>
            <a:r>
              <a:rPr lang="en-US" altLang="zh-CN" dirty="0"/>
              <a:t>2</a:t>
            </a:r>
            <a:r>
              <a:rPr lang="zh-CN" altLang="en-US" dirty="0"/>
              <a:t>）</a:t>
            </a:r>
            <a:r>
              <a:rPr lang="zh-CN" altLang="en-US" b="1" dirty="0"/>
              <a:t>难以处理模糊与歧义边界</a:t>
            </a:r>
            <a:r>
              <a:rPr lang="zh-CN" altLang="en-US" dirty="0"/>
              <a:t>：倾向于学习“平均”边界，无法反映多专家标注的合理差异。</a:t>
            </a:r>
          </a:p>
          <a:p>
            <a:r>
              <a:rPr lang="zh-CN" altLang="en-US" dirty="0"/>
              <a:t>（</a:t>
            </a:r>
            <a:r>
              <a:rPr lang="en-US" altLang="zh-CN" dirty="0"/>
              <a:t>3</a:t>
            </a:r>
            <a:r>
              <a:rPr lang="zh-CN" altLang="en-US" dirty="0"/>
              <a:t>）</a:t>
            </a:r>
            <a:r>
              <a:rPr lang="zh-CN" altLang="en-US" b="1" dirty="0"/>
              <a:t>泛化能力有限</a:t>
            </a:r>
            <a:r>
              <a:rPr lang="zh-CN" altLang="en-US" dirty="0"/>
              <a:t>：对训练分布依赖强，在域偏移下性能显著下降。</a:t>
            </a:r>
          </a:p>
          <a:p>
            <a:endParaRPr lang="en-US" altLang="zh-CN" b="1" i="0" dirty="0">
              <a:solidFill>
                <a:srgbClr val="FF0000"/>
              </a:solidFill>
              <a:effectLst/>
              <a:latin typeface="Inter"/>
            </a:endParaRPr>
          </a:p>
        </p:txBody>
      </p:sp>
      <p:sp>
        <p:nvSpPr>
          <p:cNvPr id="22" name="文本框 21">
            <a:extLst>
              <a:ext uri="{FF2B5EF4-FFF2-40B4-BE49-F238E27FC236}">
                <a16:creationId xmlns:a16="http://schemas.microsoft.com/office/drawing/2014/main" id="{142C3DA4-4364-4CE2-B1C0-041B585FBCA1}"/>
              </a:ext>
            </a:extLst>
          </p:cNvPr>
          <p:cNvSpPr txBox="1"/>
          <p:nvPr/>
        </p:nvSpPr>
        <p:spPr>
          <a:xfrm>
            <a:off x="5982660" y="1675377"/>
            <a:ext cx="2330246" cy="400110"/>
          </a:xfrm>
          <a:prstGeom prst="rect">
            <a:avLst/>
          </a:prstGeom>
          <a:noFill/>
        </p:spPr>
        <p:txBody>
          <a:bodyPr wrap="square">
            <a:spAutoFit/>
          </a:bodyPr>
          <a:lstStyle/>
          <a:p>
            <a:r>
              <a:rPr lang="zh-CN" altLang="en-US" sz="2000" kern="100" dirty="0">
                <a:latin typeface="Times New Roman" panose="02020603050405020304" pitchFamily="18" charset="0"/>
                <a:ea typeface="华文中宋" panose="02010600040101010101" pitchFamily="2" charset="-122"/>
              </a:rPr>
              <a:t>生成式模型的优势</a:t>
            </a:r>
          </a:p>
        </p:txBody>
      </p:sp>
      <p:sp>
        <p:nvSpPr>
          <p:cNvPr id="26" name="文本框 25">
            <a:extLst>
              <a:ext uri="{FF2B5EF4-FFF2-40B4-BE49-F238E27FC236}">
                <a16:creationId xmlns:a16="http://schemas.microsoft.com/office/drawing/2014/main" id="{429BFCA5-3B0F-480F-A724-173F1526C785}"/>
              </a:ext>
            </a:extLst>
          </p:cNvPr>
          <p:cNvSpPr txBox="1"/>
          <p:nvPr/>
        </p:nvSpPr>
        <p:spPr>
          <a:xfrm>
            <a:off x="5913462" y="2110507"/>
            <a:ext cx="6105833" cy="646331"/>
          </a:xfrm>
          <a:prstGeom prst="rect">
            <a:avLst/>
          </a:prstGeom>
          <a:noFill/>
        </p:spPr>
        <p:txBody>
          <a:bodyPr wrap="square">
            <a:spAutoFit/>
          </a:bodyPr>
          <a:lstStyle/>
          <a:p>
            <a:r>
              <a:rPr lang="zh-CN" altLang="en-US" dirty="0"/>
              <a:t>生成模型通过对联合概率分布建模和近似特征空间中的数据分布，能够克服确定性模型固有的局限性。</a:t>
            </a:r>
          </a:p>
        </p:txBody>
      </p:sp>
      <p:pic>
        <p:nvPicPr>
          <p:cNvPr id="13" name="图片 12">
            <a:extLst>
              <a:ext uri="{FF2B5EF4-FFF2-40B4-BE49-F238E27FC236}">
                <a16:creationId xmlns:a16="http://schemas.microsoft.com/office/drawing/2014/main" id="{1AAE204A-EF46-4133-B466-316091B21CF8}"/>
              </a:ext>
            </a:extLst>
          </p:cNvPr>
          <p:cNvPicPr>
            <a:picLocks noChangeAspect="1"/>
          </p:cNvPicPr>
          <p:nvPr/>
        </p:nvPicPr>
        <p:blipFill>
          <a:blip r:embed="rId5"/>
          <a:stretch>
            <a:fillRect/>
          </a:stretch>
        </p:blipFill>
        <p:spPr>
          <a:xfrm>
            <a:off x="5954481" y="2879621"/>
            <a:ext cx="5723717" cy="950307"/>
          </a:xfrm>
          <a:prstGeom prst="rect">
            <a:avLst/>
          </a:prstGeom>
        </p:spPr>
      </p:pic>
      <p:sp>
        <p:nvSpPr>
          <p:cNvPr id="14" name="文本框 13">
            <a:extLst>
              <a:ext uri="{FF2B5EF4-FFF2-40B4-BE49-F238E27FC236}">
                <a16:creationId xmlns:a16="http://schemas.microsoft.com/office/drawing/2014/main" id="{F139F715-37BD-4A9F-8FE4-64141DEF4216}"/>
              </a:ext>
            </a:extLst>
          </p:cNvPr>
          <p:cNvSpPr txBox="1"/>
          <p:nvPr/>
        </p:nvSpPr>
        <p:spPr>
          <a:xfrm>
            <a:off x="5982660" y="4417739"/>
            <a:ext cx="6297002"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t>可建模不确定性，支撑高可靠场景；</a:t>
            </a:r>
            <a:endParaRPr lang="en-US" altLang="zh-CN" dirty="0"/>
          </a:p>
          <a:p>
            <a:pPr marL="285750" indent="-285750">
              <a:buFont typeface="Arial" panose="020B0604020202020204" pitchFamily="34" charset="0"/>
              <a:buChar char="•"/>
            </a:pPr>
            <a:r>
              <a:rPr lang="zh-CN" altLang="en-US" dirty="0"/>
              <a:t>适配模糊边界与多解标注，更符合真实数据分布；</a:t>
            </a:r>
            <a:endParaRPr lang="en-US" altLang="zh-CN" dirty="0"/>
          </a:p>
          <a:p>
            <a:pPr marL="285750" indent="-285750">
              <a:buFont typeface="Arial" panose="020B0604020202020204" pitchFamily="34" charset="0"/>
              <a:buChar char="•"/>
            </a:pPr>
            <a:r>
              <a:rPr lang="zh-CN" altLang="en-US" dirty="0"/>
              <a:t>细粒度与小目标恢复能力更强，边缘与结构精度更高</a:t>
            </a:r>
            <a:endParaRPr lang="en-US" altLang="zh-CN" dirty="0"/>
          </a:p>
          <a:p>
            <a:pPr marL="285750" indent="-285750">
              <a:buFont typeface="Arial" panose="020B0604020202020204" pitchFamily="34" charset="0"/>
              <a:buChar char="•"/>
            </a:pPr>
            <a:r>
              <a:rPr lang="zh-CN" altLang="en-US" dirty="0"/>
              <a:t>鲁棒性与泛化性更优，对噪声、不平衡数据更友好</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8816340" y="6120130"/>
            <a:ext cx="3771900" cy="670560"/>
          </a:xfrm>
          <a:prstGeom prst="rect">
            <a:avLst/>
          </a:prstGeom>
        </p:spPr>
      </p:pic>
      <p:sp>
        <p:nvSpPr>
          <p:cNvPr id="9" name="矩形 8"/>
          <p:cNvSpPr/>
          <p:nvPr/>
        </p:nvSpPr>
        <p:spPr>
          <a:xfrm>
            <a:off x="-3810" y="-11430"/>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366440" y="470882"/>
            <a:ext cx="10626387" cy="583565"/>
          </a:xfrm>
          <a:prstGeom prst="rect">
            <a:avLst/>
          </a:prstGeom>
          <a:noFill/>
        </p:spPr>
        <p:txBody>
          <a:bodyPr wrap="square">
            <a:spAutoFit/>
          </a:bodyPr>
          <a:lstStyle/>
          <a:p>
            <a:pPr indent="0">
              <a:buFont typeface="+mj-lt"/>
              <a:buNone/>
            </a:pPr>
            <a:r>
              <a:rPr lang="zh-CN" altLang="en-US" sz="3200" dirty="0">
                <a:solidFill>
                  <a:schemeClr val="bg1"/>
                </a:solidFill>
                <a:latin typeface="微软雅黑" panose="020B0503020204020204" charset="-122"/>
                <a:ea typeface="微软雅黑" panose="020B0503020204020204" charset="-122"/>
                <a:sym typeface="+mn-ea"/>
              </a:rPr>
              <a:t>研究内容</a:t>
            </a:r>
            <a:endParaRPr lang="en-US" sz="3200" dirty="0">
              <a:solidFill>
                <a:schemeClr val="bg1"/>
              </a:solidFill>
              <a:latin typeface="微软雅黑" panose="020B0503020204020204" charset="-122"/>
              <a:ea typeface="微软雅黑" panose="020B0503020204020204" charset="-122"/>
              <a:sym typeface="+mn-ea"/>
            </a:endParaRPr>
          </a:p>
        </p:txBody>
      </p:sp>
      <p:sp>
        <p:nvSpPr>
          <p:cNvPr id="2" name="文本框 1"/>
          <p:cNvSpPr txBox="1"/>
          <p:nvPr>
            <p:custDataLst>
              <p:tags r:id="rId1"/>
            </p:custDataLst>
          </p:nvPr>
        </p:nvSpPr>
        <p:spPr>
          <a:xfrm>
            <a:off x="103506" y="1726449"/>
            <a:ext cx="5156753" cy="1524001"/>
          </a:xfrm>
          <a:prstGeom prst="rect">
            <a:avLst/>
          </a:prstGeom>
          <a:noFill/>
        </p:spPr>
        <p:txBody>
          <a:bodyPr wrap="square" rtlCol="0" anchor="t">
            <a:noAutofit/>
          </a:bodyPr>
          <a:lstStyle/>
          <a:p>
            <a:pPr marL="285750" indent="-285750">
              <a:buFont typeface="Wingdings" panose="05000000000000000000" charset="0"/>
              <a:buChar char=""/>
            </a:pPr>
            <a:endParaRPr lang="zh-CN" altLang="en-US" sz="2400" dirty="0"/>
          </a:p>
        </p:txBody>
      </p:sp>
      <p:sp>
        <p:nvSpPr>
          <p:cNvPr id="11" name="文本框 10">
            <a:extLst>
              <a:ext uri="{FF2B5EF4-FFF2-40B4-BE49-F238E27FC236}">
                <a16:creationId xmlns:a16="http://schemas.microsoft.com/office/drawing/2014/main" id="{4CA70C2D-3D17-4A53-A836-A6C7C0DC0038}"/>
              </a:ext>
            </a:extLst>
          </p:cNvPr>
          <p:cNvSpPr txBox="1"/>
          <p:nvPr/>
        </p:nvSpPr>
        <p:spPr>
          <a:xfrm>
            <a:off x="451775" y="1753169"/>
            <a:ext cx="3255251" cy="400110"/>
          </a:xfrm>
          <a:prstGeom prst="rect">
            <a:avLst/>
          </a:prstGeom>
          <a:noFill/>
        </p:spPr>
        <p:txBody>
          <a:bodyPr wrap="square">
            <a:spAutoFit/>
          </a:bodyPr>
          <a:lstStyle/>
          <a:p>
            <a:r>
              <a:rPr lang="zh-CN" altLang="en-US" sz="2000" kern="100" dirty="0">
                <a:latin typeface="Times New Roman" panose="02020603050405020304" pitchFamily="18" charset="0"/>
                <a:ea typeface="华文中宋" panose="02010600040101010101" pitchFamily="2" charset="-122"/>
              </a:rPr>
              <a:t>像素空间扩散分割模型</a:t>
            </a:r>
          </a:p>
        </p:txBody>
      </p:sp>
      <p:pic>
        <p:nvPicPr>
          <p:cNvPr id="12" name="图片 11">
            <a:extLst>
              <a:ext uri="{FF2B5EF4-FFF2-40B4-BE49-F238E27FC236}">
                <a16:creationId xmlns:a16="http://schemas.microsoft.com/office/drawing/2014/main" id="{72C9CF97-FDAD-4684-80D6-F1A9714E2C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1775" y="2179999"/>
            <a:ext cx="4631238" cy="2022229"/>
          </a:xfrm>
          <a:prstGeom prst="rect">
            <a:avLst/>
          </a:prstGeom>
        </p:spPr>
      </p:pic>
      <p:sp>
        <p:nvSpPr>
          <p:cNvPr id="14" name="文本框 13">
            <a:extLst>
              <a:ext uri="{FF2B5EF4-FFF2-40B4-BE49-F238E27FC236}">
                <a16:creationId xmlns:a16="http://schemas.microsoft.com/office/drawing/2014/main" id="{75DFF2F5-4D5B-47F8-A03E-F82F0B4348B9}"/>
              </a:ext>
            </a:extLst>
          </p:cNvPr>
          <p:cNvSpPr txBox="1"/>
          <p:nvPr/>
        </p:nvSpPr>
        <p:spPr>
          <a:xfrm>
            <a:off x="6640039" y="1733962"/>
            <a:ext cx="3240424" cy="400110"/>
          </a:xfrm>
          <a:prstGeom prst="rect">
            <a:avLst/>
          </a:prstGeom>
          <a:noFill/>
        </p:spPr>
        <p:txBody>
          <a:bodyPr wrap="square">
            <a:spAutoFit/>
          </a:bodyPr>
          <a:lstStyle/>
          <a:p>
            <a:r>
              <a:rPr lang="zh-CN" altLang="en-US" sz="2000" kern="100" dirty="0">
                <a:latin typeface="Times New Roman" panose="02020603050405020304" pitchFamily="18" charset="0"/>
                <a:ea typeface="华文中宋" panose="02010600040101010101" pitchFamily="2" charset="-122"/>
              </a:rPr>
              <a:t>潜在空间扩散分割模型</a:t>
            </a:r>
          </a:p>
        </p:txBody>
      </p:sp>
      <p:pic>
        <p:nvPicPr>
          <p:cNvPr id="6" name="图片 5">
            <a:extLst>
              <a:ext uri="{FF2B5EF4-FFF2-40B4-BE49-F238E27FC236}">
                <a16:creationId xmlns:a16="http://schemas.microsoft.com/office/drawing/2014/main" id="{87393E7D-9499-4BD5-BC6C-8DD0A5F80C7E}"/>
              </a:ext>
            </a:extLst>
          </p:cNvPr>
          <p:cNvPicPr>
            <a:picLocks noChangeAspect="1"/>
          </p:cNvPicPr>
          <p:nvPr/>
        </p:nvPicPr>
        <p:blipFill>
          <a:blip r:embed="rId6"/>
          <a:stretch>
            <a:fillRect/>
          </a:stretch>
        </p:blipFill>
        <p:spPr>
          <a:xfrm>
            <a:off x="6536652" y="2116307"/>
            <a:ext cx="5156753" cy="1994068"/>
          </a:xfrm>
          <a:prstGeom prst="rect">
            <a:avLst/>
          </a:prstGeom>
        </p:spPr>
      </p:pic>
      <p:sp>
        <p:nvSpPr>
          <p:cNvPr id="17" name="文本框 16">
            <a:extLst>
              <a:ext uri="{FF2B5EF4-FFF2-40B4-BE49-F238E27FC236}">
                <a16:creationId xmlns:a16="http://schemas.microsoft.com/office/drawing/2014/main" id="{D0B39688-65EE-4E34-962F-13403DFBEC66}"/>
              </a:ext>
            </a:extLst>
          </p:cNvPr>
          <p:cNvSpPr txBox="1"/>
          <p:nvPr/>
        </p:nvSpPr>
        <p:spPr>
          <a:xfrm>
            <a:off x="486374" y="4304248"/>
            <a:ext cx="5060648" cy="1815882"/>
          </a:xfrm>
          <a:prstGeom prst="rect">
            <a:avLst/>
          </a:prstGeom>
          <a:noFill/>
        </p:spPr>
        <p:txBody>
          <a:bodyPr wrap="square">
            <a:spAutoFit/>
          </a:bodyPr>
          <a:lstStyle/>
          <a:p>
            <a:r>
              <a:rPr lang="zh-CN" altLang="en-US" sz="1400" b="1" dirty="0"/>
              <a:t>优点：</a:t>
            </a:r>
            <a:br>
              <a:rPr lang="zh-CN" altLang="en-US" sz="1400" dirty="0"/>
            </a:br>
            <a:r>
              <a:rPr lang="zh-CN" altLang="en-US" sz="1400" dirty="0"/>
              <a:t>（</a:t>
            </a:r>
            <a:r>
              <a:rPr lang="en-US" altLang="zh-CN" sz="1400" dirty="0"/>
              <a:t>1</a:t>
            </a:r>
            <a:r>
              <a:rPr lang="zh-CN" altLang="en-US" sz="1400" dirty="0"/>
              <a:t>）直接在原始分辨率建模，</a:t>
            </a:r>
            <a:r>
              <a:rPr lang="zh-CN" altLang="en-US" sz="1400" b="1" dirty="0"/>
              <a:t>细节与边界表达能力强</a:t>
            </a:r>
            <a:r>
              <a:rPr lang="zh-CN" altLang="en-US" sz="1400" dirty="0"/>
              <a:t>；</a:t>
            </a:r>
            <a:br>
              <a:rPr lang="zh-CN" altLang="en-US" sz="1400" dirty="0"/>
            </a:br>
            <a:r>
              <a:rPr lang="zh-CN" altLang="en-US" sz="1400" dirty="0"/>
              <a:t>（</a:t>
            </a:r>
            <a:r>
              <a:rPr lang="en-US" altLang="zh-CN" sz="1400" dirty="0"/>
              <a:t>2</a:t>
            </a:r>
            <a:r>
              <a:rPr lang="zh-CN" altLang="en-US" sz="1400" dirty="0"/>
              <a:t>）无编码压缩过程，</a:t>
            </a:r>
            <a:r>
              <a:rPr lang="zh-CN" altLang="en-US" sz="1400" b="1" dirty="0"/>
              <a:t>信息无损、结构简单</a:t>
            </a:r>
            <a:r>
              <a:rPr lang="zh-CN" altLang="en-US" sz="1400" dirty="0"/>
              <a:t>；</a:t>
            </a:r>
            <a:br>
              <a:rPr lang="zh-CN" altLang="en-US" sz="1400" dirty="0"/>
            </a:br>
            <a:r>
              <a:rPr lang="zh-CN" altLang="en-US" sz="1400" dirty="0"/>
              <a:t>（</a:t>
            </a:r>
            <a:r>
              <a:rPr lang="en-US" altLang="zh-CN" sz="1400" dirty="0"/>
              <a:t>3</a:t>
            </a:r>
            <a:r>
              <a:rPr lang="zh-CN" altLang="en-US" sz="1400" dirty="0"/>
              <a:t>）对精细结构与模糊边界建模更充分。</a:t>
            </a:r>
          </a:p>
          <a:p>
            <a:r>
              <a:rPr lang="zh-CN" altLang="en-US" sz="1400" b="1" dirty="0"/>
              <a:t>缺点：</a:t>
            </a:r>
            <a:br>
              <a:rPr lang="zh-CN" altLang="en-US" sz="1400" dirty="0"/>
            </a:br>
            <a:r>
              <a:rPr lang="zh-CN" altLang="en-US" sz="1400" dirty="0"/>
              <a:t>（</a:t>
            </a:r>
            <a:r>
              <a:rPr lang="en-US" altLang="zh-CN" sz="1400" dirty="0"/>
              <a:t>1</a:t>
            </a:r>
            <a:r>
              <a:rPr lang="zh-CN" altLang="en-US" sz="1400" dirty="0"/>
              <a:t>）数据维度高，</a:t>
            </a:r>
            <a:r>
              <a:rPr lang="zh-CN" altLang="en-US" sz="1400" b="1" dirty="0"/>
              <a:t>计算与显存开销大</a:t>
            </a:r>
            <a:r>
              <a:rPr lang="zh-CN" altLang="en-US" sz="1400" dirty="0"/>
              <a:t>；</a:t>
            </a:r>
            <a:br>
              <a:rPr lang="zh-CN" altLang="en-US" sz="1400" dirty="0"/>
            </a:br>
            <a:r>
              <a:rPr lang="zh-CN" altLang="en-US" sz="1400" dirty="0"/>
              <a:t>（</a:t>
            </a:r>
            <a:r>
              <a:rPr lang="en-US" altLang="zh-CN" sz="1400" dirty="0"/>
              <a:t>2</a:t>
            </a:r>
            <a:r>
              <a:rPr lang="zh-CN" altLang="en-US" sz="1400" dirty="0"/>
              <a:t>）扩散步骤多，</a:t>
            </a:r>
            <a:r>
              <a:rPr lang="zh-CN" altLang="en-US" sz="1400" b="1" dirty="0"/>
              <a:t>推理速度较慢</a:t>
            </a:r>
            <a:r>
              <a:rPr lang="zh-CN" altLang="en-US" sz="1400" dirty="0"/>
              <a:t>；</a:t>
            </a:r>
            <a:br>
              <a:rPr lang="zh-CN" altLang="en-US" sz="1400" dirty="0"/>
            </a:br>
            <a:r>
              <a:rPr lang="zh-CN" altLang="en-US" sz="1400" dirty="0"/>
              <a:t>（</a:t>
            </a:r>
            <a:r>
              <a:rPr lang="en-US" altLang="zh-CN" sz="1400" dirty="0"/>
              <a:t>3</a:t>
            </a:r>
            <a:r>
              <a:rPr lang="zh-CN" altLang="en-US" sz="1400" dirty="0"/>
              <a:t>）训练成本高，扩展到高分辨率较困难。</a:t>
            </a:r>
          </a:p>
        </p:txBody>
      </p:sp>
      <p:sp>
        <p:nvSpPr>
          <p:cNvPr id="31" name="文本框 30">
            <a:extLst>
              <a:ext uri="{FF2B5EF4-FFF2-40B4-BE49-F238E27FC236}">
                <a16:creationId xmlns:a16="http://schemas.microsoft.com/office/drawing/2014/main" id="{2BC73C95-6CB1-4EDD-AB85-61DBA89FB0E5}"/>
              </a:ext>
            </a:extLst>
          </p:cNvPr>
          <p:cNvSpPr txBox="1"/>
          <p:nvPr/>
        </p:nvSpPr>
        <p:spPr>
          <a:xfrm>
            <a:off x="6536652" y="4304248"/>
            <a:ext cx="4779594" cy="1815882"/>
          </a:xfrm>
          <a:prstGeom prst="rect">
            <a:avLst/>
          </a:prstGeom>
          <a:noFill/>
        </p:spPr>
        <p:txBody>
          <a:bodyPr wrap="square">
            <a:spAutoFit/>
          </a:bodyPr>
          <a:lstStyle/>
          <a:p>
            <a:r>
              <a:rPr lang="zh-CN" altLang="en-US" sz="1400" b="1" dirty="0"/>
              <a:t>优点：</a:t>
            </a:r>
            <a:br>
              <a:rPr lang="zh-CN" altLang="en-US" sz="1400" dirty="0"/>
            </a:br>
            <a:r>
              <a:rPr lang="zh-CN" altLang="en-US" sz="1400" dirty="0"/>
              <a:t>（</a:t>
            </a:r>
            <a:r>
              <a:rPr lang="en-US" altLang="zh-CN" sz="1400" dirty="0"/>
              <a:t>1</a:t>
            </a:r>
            <a:r>
              <a:rPr lang="zh-CN" altLang="en-US" sz="1400" dirty="0"/>
              <a:t>）在低维空间建模，</a:t>
            </a:r>
            <a:r>
              <a:rPr lang="zh-CN" altLang="en-US" sz="1400" b="1" dirty="0"/>
              <a:t>计算效率高、显存占用低</a:t>
            </a:r>
            <a:r>
              <a:rPr lang="zh-CN" altLang="en-US" sz="1400" dirty="0"/>
              <a:t>；</a:t>
            </a:r>
            <a:br>
              <a:rPr lang="zh-CN" altLang="en-US" sz="1400" dirty="0"/>
            </a:br>
            <a:r>
              <a:rPr lang="zh-CN" altLang="en-US" sz="1400" dirty="0"/>
              <a:t>（</a:t>
            </a:r>
            <a:r>
              <a:rPr lang="en-US" altLang="zh-CN" sz="1400" dirty="0"/>
              <a:t>2</a:t>
            </a:r>
            <a:r>
              <a:rPr lang="zh-CN" altLang="en-US" sz="1400" dirty="0"/>
              <a:t>）扩散过程更快，</a:t>
            </a:r>
            <a:r>
              <a:rPr lang="zh-CN" altLang="en-US" sz="1400" b="1" dirty="0"/>
              <a:t>推理效率更优</a:t>
            </a:r>
            <a:r>
              <a:rPr lang="zh-CN" altLang="en-US" sz="1400" dirty="0"/>
              <a:t>；</a:t>
            </a:r>
            <a:br>
              <a:rPr lang="zh-CN" altLang="en-US" sz="1400" dirty="0"/>
            </a:br>
            <a:r>
              <a:rPr lang="zh-CN" altLang="en-US" sz="1400" dirty="0"/>
              <a:t>（</a:t>
            </a:r>
            <a:r>
              <a:rPr lang="en-US" altLang="zh-CN" sz="1400" dirty="0"/>
              <a:t>3</a:t>
            </a:r>
            <a:r>
              <a:rPr lang="zh-CN" altLang="en-US" sz="1400" dirty="0"/>
              <a:t>）更易扩展到高分辨率任务。</a:t>
            </a:r>
          </a:p>
          <a:p>
            <a:r>
              <a:rPr lang="zh-CN" altLang="en-US" sz="1400" b="1" dirty="0"/>
              <a:t>缺点：</a:t>
            </a:r>
            <a:br>
              <a:rPr lang="zh-CN" altLang="en-US" sz="1400" dirty="0"/>
            </a:br>
            <a:r>
              <a:rPr lang="zh-CN" altLang="en-US" sz="1400" dirty="0"/>
              <a:t>（</a:t>
            </a:r>
            <a:r>
              <a:rPr lang="en-US" altLang="zh-CN" sz="1400" dirty="0"/>
              <a:t>1</a:t>
            </a:r>
            <a:r>
              <a:rPr lang="zh-CN" altLang="en-US" sz="1400" dirty="0"/>
              <a:t>）依赖编码器（如 </a:t>
            </a:r>
            <a:r>
              <a:rPr lang="en-US" altLang="zh-CN" sz="1400" dirty="0"/>
              <a:t>VAE</a:t>
            </a:r>
            <a:r>
              <a:rPr lang="zh-CN" altLang="en-US" sz="1400" dirty="0"/>
              <a:t>），</a:t>
            </a:r>
            <a:r>
              <a:rPr lang="zh-CN" altLang="en-US" sz="1400" b="1" dirty="0"/>
              <a:t>存在信息压缩损失</a:t>
            </a:r>
            <a:r>
              <a:rPr lang="zh-CN" altLang="en-US" sz="1400" dirty="0"/>
              <a:t>；</a:t>
            </a:r>
            <a:br>
              <a:rPr lang="zh-CN" altLang="en-US" sz="1400" dirty="0"/>
            </a:br>
            <a:r>
              <a:rPr lang="zh-CN" altLang="en-US" sz="1400" dirty="0"/>
              <a:t>（</a:t>
            </a:r>
            <a:r>
              <a:rPr lang="en-US" altLang="zh-CN" sz="1400" dirty="0"/>
              <a:t>2</a:t>
            </a:r>
            <a:r>
              <a:rPr lang="zh-CN" altLang="en-US" sz="1400" dirty="0"/>
              <a:t>）细节与边界恢复能力相对较弱；</a:t>
            </a:r>
            <a:br>
              <a:rPr lang="zh-CN" altLang="en-US" sz="1400" dirty="0"/>
            </a:br>
            <a:r>
              <a:rPr lang="zh-CN" altLang="en-US" sz="1400" dirty="0"/>
              <a:t>（</a:t>
            </a:r>
            <a:r>
              <a:rPr lang="en-US" altLang="zh-CN" sz="1400" dirty="0"/>
              <a:t>3</a:t>
            </a:r>
            <a:r>
              <a:rPr lang="zh-CN" altLang="en-US" sz="1400" dirty="0"/>
              <a:t>）性能受潜在表示质量影响较大。</a:t>
            </a:r>
          </a:p>
        </p:txBody>
      </p:sp>
    </p:spTree>
    <p:extLst>
      <p:ext uri="{BB962C8B-B14F-4D97-AF65-F5344CB8AC3E}">
        <p14:creationId xmlns:p14="http://schemas.microsoft.com/office/powerpoint/2010/main" val="1572596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8816340" y="6120130"/>
            <a:ext cx="3771900" cy="670560"/>
          </a:xfrm>
          <a:prstGeom prst="rect">
            <a:avLst/>
          </a:prstGeom>
        </p:spPr>
      </p:pic>
      <p:sp>
        <p:nvSpPr>
          <p:cNvPr id="9" name="矩形 8"/>
          <p:cNvSpPr/>
          <p:nvPr/>
        </p:nvSpPr>
        <p:spPr>
          <a:xfrm>
            <a:off x="-3810" y="-11430"/>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391154" y="473075"/>
            <a:ext cx="10626387" cy="583565"/>
          </a:xfrm>
          <a:prstGeom prst="rect">
            <a:avLst/>
          </a:prstGeom>
          <a:noFill/>
        </p:spPr>
        <p:txBody>
          <a:bodyPr wrap="square">
            <a:spAutoFit/>
          </a:bodyPr>
          <a:lstStyle/>
          <a:p>
            <a:pPr indent="0">
              <a:buFont typeface="+mj-lt"/>
              <a:buNone/>
            </a:pPr>
            <a:r>
              <a:rPr lang="zh-CN" altLang="en-US" sz="3200" dirty="0">
                <a:solidFill>
                  <a:schemeClr val="bg1"/>
                </a:solidFill>
                <a:latin typeface="微软雅黑" panose="020B0503020204020204" charset="-122"/>
                <a:ea typeface="微软雅黑" panose="020B0503020204020204" charset="-122"/>
                <a:sym typeface="+mn-ea"/>
              </a:rPr>
              <a:t>方法一 基于模糊感知的皮肤病变扩散分割模型</a:t>
            </a:r>
            <a:endParaRPr lang="en-US" sz="3200" dirty="0">
              <a:solidFill>
                <a:schemeClr val="bg1"/>
              </a:solidFill>
              <a:latin typeface="微软雅黑" panose="020B0503020204020204" charset="-122"/>
              <a:ea typeface="微软雅黑" panose="020B0503020204020204" charset="-122"/>
              <a:sym typeface="+mn-ea"/>
            </a:endParaRPr>
          </a:p>
        </p:txBody>
      </p:sp>
      <p:sp>
        <p:nvSpPr>
          <p:cNvPr id="2" name="文本框 1"/>
          <p:cNvSpPr txBox="1"/>
          <p:nvPr>
            <p:custDataLst>
              <p:tags r:id="rId1"/>
            </p:custDataLst>
          </p:nvPr>
        </p:nvSpPr>
        <p:spPr>
          <a:xfrm>
            <a:off x="103505" y="1282700"/>
            <a:ext cx="11976735" cy="1039495"/>
          </a:xfrm>
          <a:prstGeom prst="rect">
            <a:avLst/>
          </a:prstGeom>
          <a:noFill/>
        </p:spPr>
        <p:txBody>
          <a:bodyPr wrap="square" rtlCol="0" anchor="t">
            <a:noAutofit/>
          </a:bodyPr>
          <a:lstStyle/>
          <a:p>
            <a:pPr indent="0">
              <a:buFont typeface="Wingdings" panose="05000000000000000000" charset="0"/>
              <a:buNone/>
            </a:pPr>
            <a:endParaRPr lang="en-US" altLang="zh-CN" sz="2200" dirty="0">
              <a:sym typeface="+mn-ea"/>
            </a:endParaRPr>
          </a:p>
        </p:txBody>
      </p:sp>
      <p:sp>
        <p:nvSpPr>
          <p:cNvPr id="11" name="文本框 10">
            <a:extLst>
              <a:ext uri="{FF2B5EF4-FFF2-40B4-BE49-F238E27FC236}">
                <a16:creationId xmlns:a16="http://schemas.microsoft.com/office/drawing/2014/main" id="{944A8C13-59BF-40F1-BD4A-9E27D5CD2575}"/>
              </a:ext>
            </a:extLst>
          </p:cNvPr>
          <p:cNvSpPr txBox="1"/>
          <p:nvPr/>
        </p:nvSpPr>
        <p:spPr>
          <a:xfrm>
            <a:off x="78451" y="2100922"/>
            <a:ext cx="6131358" cy="646331"/>
          </a:xfrm>
          <a:prstGeom prst="rect">
            <a:avLst/>
          </a:prstGeom>
          <a:noFill/>
        </p:spPr>
        <p:txBody>
          <a:bodyPr wrap="square">
            <a:spAutoFit/>
          </a:bodyPr>
          <a:lstStyle/>
          <a:p>
            <a:br>
              <a:rPr lang="en-US" altLang="zh-CN" sz="1800" kern="100" dirty="0">
                <a:effectLst/>
                <a:latin typeface="Times New Roman" panose="02020603050405020304" pitchFamily="18" charset="0"/>
                <a:ea typeface="华文中宋" panose="02010600040101010101" pitchFamily="2" charset="-122"/>
                <a:cs typeface="Times New Roman" panose="02020603050405020304" pitchFamily="18" charset="0"/>
              </a:rPr>
            </a:br>
            <a:endParaRPr lang="zh-CN" altLang="en-US" dirty="0">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2E1248C3-E529-40D8-B16C-CEE023276391}"/>
              </a:ext>
            </a:extLst>
          </p:cNvPr>
          <p:cNvSpPr txBox="1"/>
          <p:nvPr/>
        </p:nvSpPr>
        <p:spPr>
          <a:xfrm>
            <a:off x="307146" y="1769665"/>
            <a:ext cx="4419599" cy="3970318"/>
          </a:xfrm>
          <a:prstGeom prst="rect">
            <a:avLst/>
          </a:prstGeom>
          <a:noFill/>
        </p:spPr>
        <p:txBody>
          <a:bodyPr wrap="square">
            <a:spAutoFit/>
          </a:bodyPr>
          <a:lstStyle/>
          <a:p>
            <a:r>
              <a:rPr lang="zh-CN" altLang="en-US" dirty="0"/>
              <a:t>基于</a:t>
            </a:r>
            <a:r>
              <a:rPr lang="zh-CN" altLang="en-US" sz="1800" kern="100" dirty="0">
                <a:latin typeface="Times New Roman" panose="02020603050405020304" pitchFamily="18" charset="0"/>
                <a:ea typeface="华文中宋" panose="02010600040101010101" pitchFamily="2" charset="-122"/>
              </a:rPr>
              <a:t>像素空间扩散分割模型</a:t>
            </a:r>
            <a:r>
              <a:rPr lang="zh-CN" altLang="en-US" dirty="0"/>
              <a:t>提出了一种新型基于模糊评估的扩散分割框架。采用</a:t>
            </a:r>
            <a:r>
              <a:rPr lang="zh-CN" altLang="en-US" b="1" dirty="0"/>
              <a:t>双路径融合框架</a:t>
            </a:r>
            <a:r>
              <a:rPr lang="zh-CN" altLang="en-US" dirty="0"/>
              <a:t>来解决</a:t>
            </a:r>
            <a:r>
              <a:rPr lang="zh-CN" altLang="en-US" b="1" dirty="0"/>
              <a:t>皮肤病变分割任务</a:t>
            </a:r>
            <a:r>
              <a:rPr lang="zh-CN" altLang="en-US" dirty="0"/>
              <a:t>。同时通过两项创新来优化分割效率：</a:t>
            </a:r>
            <a:endParaRPr lang="en-US" altLang="zh-CN" dirty="0"/>
          </a:p>
          <a:p>
            <a:endParaRPr lang="en-US" altLang="zh-CN" dirty="0"/>
          </a:p>
          <a:p>
            <a:r>
              <a:rPr lang="zh-CN" altLang="en-US" b="1" dirty="0"/>
              <a:t>模糊感知机制</a:t>
            </a:r>
            <a:r>
              <a:rPr lang="zh-CN" altLang="en-US" dirty="0"/>
              <a:t>（</a:t>
            </a:r>
            <a:r>
              <a:rPr lang="en-US" altLang="zh-CN" dirty="0"/>
              <a:t>Fuzzy-Aware Mechanism, FAM</a:t>
            </a:r>
            <a:r>
              <a:rPr lang="zh-CN" altLang="en-US" dirty="0"/>
              <a:t>），它评估边界的模糊度以构建模糊边界特征图，从而减轻样本数量不足的目标和模糊边界的代表性不足；</a:t>
            </a:r>
            <a:endParaRPr lang="en-US" altLang="zh-CN" dirty="0"/>
          </a:p>
          <a:p>
            <a:endParaRPr lang="en-US" altLang="zh-CN" dirty="0"/>
          </a:p>
          <a:p>
            <a:r>
              <a:rPr lang="zh-CN" altLang="en-US" b="1" dirty="0"/>
              <a:t>基于时序的频率融合模块</a:t>
            </a:r>
            <a:r>
              <a:rPr lang="zh-CN" altLang="en-US" dirty="0"/>
              <a:t>（</a:t>
            </a:r>
            <a:r>
              <a:rPr lang="en-US" altLang="zh-CN" dirty="0"/>
              <a:t>Time-Sequence-Based Frequency Fusion Module, TFFM</a:t>
            </a:r>
            <a:r>
              <a:rPr lang="zh-CN" altLang="en-US" dirty="0"/>
              <a:t>），</a:t>
            </a:r>
            <a:r>
              <a:rPr lang="zh-CN" altLang="en-US" b="0" i="0" dirty="0">
                <a:effectLst/>
                <a:latin typeface="Twemoji Country Flags"/>
              </a:rPr>
              <a:t>受</a:t>
            </a:r>
            <a:r>
              <a:rPr lang="en-US" altLang="zh-CN" b="0" i="0" dirty="0" err="1">
                <a:effectLst/>
                <a:latin typeface="Twemoji Country Flags"/>
              </a:rPr>
              <a:t>FreqFusion</a:t>
            </a:r>
            <a:r>
              <a:rPr lang="zh-CN" altLang="en-US" b="0" i="0" dirty="0">
                <a:effectLst/>
                <a:latin typeface="Twemoji Country Flags"/>
              </a:rPr>
              <a:t>的启发</a:t>
            </a:r>
            <a:r>
              <a:rPr lang="en-US" altLang="zh-CN" b="0" i="0" dirty="0">
                <a:effectLst/>
                <a:latin typeface="Twemoji Country Flags"/>
              </a:rPr>
              <a:t>,</a:t>
            </a:r>
            <a:r>
              <a:rPr lang="zh-CN" altLang="en-US" dirty="0"/>
              <a:t>用于解决边界错位和类别内不一致性问题。</a:t>
            </a:r>
          </a:p>
        </p:txBody>
      </p:sp>
      <p:pic>
        <p:nvPicPr>
          <p:cNvPr id="14" name="图片 13">
            <a:extLst>
              <a:ext uri="{FF2B5EF4-FFF2-40B4-BE49-F238E27FC236}">
                <a16:creationId xmlns:a16="http://schemas.microsoft.com/office/drawing/2014/main" id="{088AD544-263B-4D1E-AE4E-F6BD6521FF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65721" y="1629461"/>
            <a:ext cx="6297035" cy="43737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8816340" y="6069965"/>
            <a:ext cx="3771900" cy="670560"/>
          </a:xfrm>
          <a:prstGeom prst="rect">
            <a:avLst/>
          </a:prstGeom>
        </p:spPr>
      </p:pic>
      <p:sp>
        <p:nvSpPr>
          <p:cNvPr id="9" name="矩形 8"/>
          <p:cNvSpPr/>
          <p:nvPr/>
        </p:nvSpPr>
        <p:spPr>
          <a:xfrm>
            <a:off x="-3810" y="-11430"/>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366440" y="458182"/>
            <a:ext cx="10626387" cy="583565"/>
          </a:xfrm>
          <a:prstGeom prst="rect">
            <a:avLst/>
          </a:prstGeom>
          <a:noFill/>
        </p:spPr>
        <p:txBody>
          <a:bodyPr wrap="square">
            <a:spAutoFit/>
          </a:bodyPr>
          <a:lstStyle/>
          <a:p>
            <a:pPr indent="0">
              <a:buFont typeface="+mj-lt"/>
              <a:buNone/>
            </a:pPr>
            <a:r>
              <a:rPr lang="en-US" sz="3200" dirty="0">
                <a:solidFill>
                  <a:schemeClr val="bg1"/>
                </a:solidFill>
                <a:latin typeface="微软雅黑" panose="020B0503020204020204" charset="-122"/>
                <a:ea typeface="微软雅黑" panose="020B0503020204020204" charset="-122"/>
                <a:sym typeface="+mn-ea"/>
              </a:rPr>
              <a:t> </a:t>
            </a:r>
            <a:r>
              <a:rPr lang="zh-CN" altLang="en-US" sz="3200" dirty="0">
                <a:solidFill>
                  <a:schemeClr val="bg1"/>
                </a:solidFill>
                <a:latin typeface="微软雅黑" panose="020B0503020204020204" charset="-122"/>
                <a:ea typeface="微软雅黑" panose="020B0503020204020204" charset="-122"/>
                <a:sym typeface="+mn-ea"/>
              </a:rPr>
              <a:t>实验设计</a:t>
            </a:r>
            <a:endParaRPr lang="en-US" sz="3200" dirty="0">
              <a:solidFill>
                <a:schemeClr val="bg1"/>
              </a:solidFill>
              <a:latin typeface="微软雅黑" panose="020B0503020204020204" charset="-122"/>
              <a:ea typeface="微软雅黑" panose="020B0503020204020204" charset="-122"/>
              <a:sym typeface="+mn-ea"/>
            </a:endParaRPr>
          </a:p>
        </p:txBody>
      </p:sp>
      <p:sp>
        <p:nvSpPr>
          <p:cNvPr id="10" name="文本框 9">
            <a:extLst>
              <a:ext uri="{FF2B5EF4-FFF2-40B4-BE49-F238E27FC236}">
                <a16:creationId xmlns:a16="http://schemas.microsoft.com/office/drawing/2014/main" id="{50F91D1C-ABEB-4444-AF1E-FE399B62EA8F}"/>
              </a:ext>
            </a:extLst>
          </p:cNvPr>
          <p:cNvSpPr txBox="1"/>
          <p:nvPr/>
        </p:nvSpPr>
        <p:spPr>
          <a:xfrm>
            <a:off x="331161" y="1693561"/>
            <a:ext cx="1319702" cy="461665"/>
          </a:xfrm>
          <a:prstGeom prst="rect">
            <a:avLst/>
          </a:prstGeom>
          <a:noFill/>
        </p:spPr>
        <p:txBody>
          <a:bodyPr wrap="square">
            <a:spAutoFit/>
          </a:bodyPr>
          <a:lstStyle/>
          <a:p>
            <a:r>
              <a:rPr lang="zh-CN" altLang="en-US" sz="2400" b="1" dirty="0"/>
              <a:t>数据集</a:t>
            </a:r>
          </a:p>
        </p:txBody>
      </p:sp>
      <p:sp>
        <p:nvSpPr>
          <p:cNvPr id="11" name="文本框 10">
            <a:extLst>
              <a:ext uri="{FF2B5EF4-FFF2-40B4-BE49-F238E27FC236}">
                <a16:creationId xmlns:a16="http://schemas.microsoft.com/office/drawing/2014/main" id="{ED0A207F-1E40-403B-A71A-9B0BA8E585D7}"/>
              </a:ext>
            </a:extLst>
          </p:cNvPr>
          <p:cNvSpPr txBox="1"/>
          <p:nvPr/>
        </p:nvSpPr>
        <p:spPr>
          <a:xfrm>
            <a:off x="331161" y="2243884"/>
            <a:ext cx="4344636" cy="3785652"/>
          </a:xfrm>
          <a:prstGeom prst="rect">
            <a:avLst/>
          </a:prstGeom>
          <a:noFill/>
        </p:spPr>
        <p:txBody>
          <a:bodyPr wrap="square">
            <a:spAutoFit/>
          </a:bodyPr>
          <a:lstStyle/>
          <a:p>
            <a:r>
              <a:rPr lang="en-US" altLang="zh-CN" sz="2400" b="1" dirty="0"/>
              <a:t>ISIC 2018</a:t>
            </a:r>
            <a:r>
              <a:rPr lang="zh-CN" altLang="en-US" sz="1400" dirty="0"/>
              <a:t>是国际皮肤成像协作组织发布的大规模标准数据集，训练集含</a:t>
            </a:r>
            <a:r>
              <a:rPr lang="en-US" altLang="zh-CN" sz="1400" dirty="0"/>
              <a:t>2594</a:t>
            </a:r>
            <a:r>
              <a:rPr lang="zh-CN" altLang="en-US" sz="1400" dirty="0"/>
              <a:t>幅图像及对应二值掩码，验证集</a:t>
            </a:r>
            <a:r>
              <a:rPr lang="en-US" altLang="zh-CN" sz="1400" dirty="0"/>
              <a:t>100</a:t>
            </a:r>
            <a:r>
              <a:rPr lang="zh-CN" altLang="en-US" sz="1400" dirty="0"/>
              <a:t>幅，测试集</a:t>
            </a:r>
            <a:r>
              <a:rPr lang="en-US" altLang="zh-CN" sz="1400" dirty="0"/>
              <a:t>1000</a:t>
            </a:r>
            <a:r>
              <a:rPr lang="zh-CN" altLang="en-US" sz="1400" dirty="0"/>
              <a:t>幅。</a:t>
            </a:r>
            <a:endParaRPr lang="en-US" altLang="zh-CN" sz="1400" dirty="0"/>
          </a:p>
          <a:p>
            <a:endParaRPr lang="en-US" altLang="zh-CN" sz="1400" dirty="0"/>
          </a:p>
          <a:p>
            <a:r>
              <a:rPr lang="en-US" altLang="zh-CN" sz="2400" b="1" dirty="0"/>
              <a:t>ISIC 2016</a:t>
            </a:r>
            <a:r>
              <a:rPr lang="zh-CN" altLang="en-US" sz="1400" dirty="0"/>
              <a:t>作为</a:t>
            </a:r>
            <a:r>
              <a:rPr lang="en-US" altLang="zh-CN" sz="1400" dirty="0"/>
              <a:t>ISIC</a:t>
            </a:r>
            <a:r>
              <a:rPr lang="zh-CN" altLang="en-US" sz="1400" dirty="0"/>
              <a:t>系列早期经典数据集，同样基于皮肤镜图像构建，包含良恶性皮肤病变样本，图像更贴近早期临床采集场景，该数据集原始训练集共</a:t>
            </a:r>
            <a:r>
              <a:rPr lang="en-US" altLang="zh-CN" sz="1400" dirty="0"/>
              <a:t>900</a:t>
            </a:r>
            <a:r>
              <a:rPr lang="zh-CN" altLang="en-US" sz="1400" dirty="0"/>
              <a:t>幅图像及掩码，无官方验证集，本文遵循领域通用规范，按</a:t>
            </a:r>
            <a:r>
              <a:rPr lang="en-US" altLang="zh-CN" sz="1400" dirty="0"/>
              <a:t>8:2</a:t>
            </a:r>
            <a:r>
              <a:rPr lang="zh-CN" altLang="en-US" sz="1400" dirty="0"/>
              <a:t>比例将其拆分为</a:t>
            </a:r>
            <a:r>
              <a:rPr lang="en-US" altLang="zh-CN" sz="1400" dirty="0"/>
              <a:t>800</a:t>
            </a:r>
            <a:r>
              <a:rPr lang="zh-CN" altLang="en-US" sz="1400" dirty="0"/>
              <a:t>幅训练图像与</a:t>
            </a:r>
            <a:r>
              <a:rPr lang="en-US" altLang="zh-CN" sz="1400" dirty="0"/>
              <a:t>100</a:t>
            </a:r>
            <a:r>
              <a:rPr lang="zh-CN" altLang="en-US" sz="1400" dirty="0"/>
              <a:t>幅验证图像，官方测试集含</a:t>
            </a:r>
            <a:r>
              <a:rPr lang="en-US" altLang="zh-CN" sz="1400" dirty="0"/>
              <a:t>379</a:t>
            </a:r>
            <a:r>
              <a:rPr lang="zh-CN" altLang="en-US" sz="1400" dirty="0"/>
              <a:t>幅图像，</a:t>
            </a:r>
            <a:endParaRPr lang="en-US" altLang="zh-CN" sz="1400" dirty="0"/>
          </a:p>
          <a:p>
            <a:endParaRPr lang="en-US" altLang="zh-CN" sz="1400" dirty="0"/>
          </a:p>
          <a:p>
            <a:r>
              <a:rPr lang="en-US" altLang="zh-CN" sz="2400" b="1" dirty="0"/>
              <a:t>PH2</a:t>
            </a:r>
            <a:r>
              <a:rPr lang="zh-CN" altLang="en-US" sz="1400" dirty="0"/>
              <a:t>数据集由葡萄牙波尔图大学团队构建，是标注质量极高的小规模精标数据集，全部</a:t>
            </a:r>
            <a:r>
              <a:rPr lang="en-US" altLang="zh-CN" sz="1400" dirty="0"/>
              <a:t>200</a:t>
            </a:r>
            <a:r>
              <a:rPr lang="zh-CN" altLang="en-US" sz="1400" dirty="0"/>
              <a:t>幅图像均经皮肤科医生逐像素标注，按</a:t>
            </a:r>
            <a:r>
              <a:rPr lang="en-US" altLang="zh-CN" sz="1400" dirty="0"/>
              <a:t>10:2:8</a:t>
            </a:r>
            <a:r>
              <a:rPr lang="zh-CN" altLang="en-US" sz="1400" dirty="0"/>
              <a:t>比例随机分层划分训练集、验证集与测试集。</a:t>
            </a:r>
          </a:p>
        </p:txBody>
      </p:sp>
      <p:sp>
        <p:nvSpPr>
          <p:cNvPr id="12" name="文本框 11">
            <a:extLst>
              <a:ext uri="{FF2B5EF4-FFF2-40B4-BE49-F238E27FC236}">
                <a16:creationId xmlns:a16="http://schemas.microsoft.com/office/drawing/2014/main" id="{83602BB0-9E5C-4B14-9A6D-FE086C30C526}"/>
              </a:ext>
            </a:extLst>
          </p:cNvPr>
          <p:cNvSpPr txBox="1"/>
          <p:nvPr/>
        </p:nvSpPr>
        <p:spPr>
          <a:xfrm>
            <a:off x="5847217" y="1693561"/>
            <a:ext cx="2318128" cy="461665"/>
          </a:xfrm>
          <a:prstGeom prst="rect">
            <a:avLst/>
          </a:prstGeom>
          <a:noFill/>
        </p:spPr>
        <p:txBody>
          <a:bodyPr wrap="square">
            <a:spAutoFit/>
          </a:bodyPr>
          <a:lstStyle/>
          <a:p>
            <a:r>
              <a:rPr lang="zh-CN" altLang="en-US" sz="2400" b="1" dirty="0"/>
              <a:t>实验设置</a:t>
            </a:r>
          </a:p>
        </p:txBody>
      </p:sp>
      <p:sp>
        <p:nvSpPr>
          <p:cNvPr id="13" name="文本框 12">
            <a:extLst>
              <a:ext uri="{FF2B5EF4-FFF2-40B4-BE49-F238E27FC236}">
                <a16:creationId xmlns:a16="http://schemas.microsoft.com/office/drawing/2014/main" id="{83F4BFFC-A53B-4415-967F-6077D7C20EA6}"/>
              </a:ext>
            </a:extLst>
          </p:cNvPr>
          <p:cNvSpPr txBox="1"/>
          <p:nvPr/>
        </p:nvSpPr>
        <p:spPr>
          <a:xfrm>
            <a:off x="5943908" y="2385644"/>
            <a:ext cx="5424307" cy="3293209"/>
          </a:xfrm>
          <a:prstGeom prst="rect">
            <a:avLst/>
          </a:prstGeom>
          <a:noFill/>
        </p:spPr>
        <p:txBody>
          <a:bodyPr wrap="square">
            <a:spAutoFit/>
          </a:bodyPr>
          <a:lstStyle/>
          <a:p>
            <a:r>
              <a:rPr lang="zh-CN" altLang="en-US" b="1" dirty="0"/>
              <a:t>（</a:t>
            </a:r>
            <a:r>
              <a:rPr lang="en-US" altLang="zh-CN" b="1" dirty="0"/>
              <a:t>1</a:t>
            </a:r>
            <a:r>
              <a:rPr lang="zh-CN" altLang="en-US" b="1" dirty="0"/>
              <a:t>）分割效果对比实验</a:t>
            </a:r>
            <a:endParaRPr lang="en-US" altLang="zh-CN" b="1" dirty="0"/>
          </a:p>
          <a:p>
            <a:pPr lvl="1"/>
            <a:r>
              <a:rPr lang="zh-CN" altLang="en-US" sz="1400" b="1" dirty="0"/>
              <a:t>在三种数据集下，与近年来主流的确定性分割模型（</a:t>
            </a:r>
            <a:r>
              <a:rPr lang="en-US" altLang="zh-CN" sz="1400" b="1" dirty="0" err="1"/>
              <a:t>CNN+Transformer</a:t>
            </a:r>
            <a:r>
              <a:rPr lang="zh-CN" altLang="en-US" sz="1400" b="1" dirty="0"/>
              <a:t>）和扩散分割模型</a:t>
            </a:r>
            <a:endParaRPr lang="en-US" altLang="zh-CN" sz="1400" b="1" dirty="0"/>
          </a:p>
          <a:p>
            <a:pPr lvl="1"/>
            <a:r>
              <a:rPr lang="zh-CN" altLang="en-US" sz="1400" b="1" dirty="0"/>
              <a:t>评价指标：</a:t>
            </a:r>
            <a:r>
              <a:rPr lang="en-US" altLang="zh-CN" sz="1400" b="1" dirty="0"/>
              <a:t>dice</a:t>
            </a:r>
            <a:r>
              <a:rPr lang="zh-CN" altLang="en-US" sz="1400" b="1" dirty="0"/>
              <a:t>系数，交并比又（平均</a:t>
            </a:r>
            <a:r>
              <a:rPr lang="en-US" altLang="zh-CN" sz="1400" b="1" dirty="0" err="1"/>
              <a:t>IoU</a:t>
            </a:r>
            <a:r>
              <a:rPr lang="zh-CN" altLang="en-US" sz="1400" b="1" dirty="0"/>
              <a:t>），精确率（</a:t>
            </a:r>
            <a:r>
              <a:rPr lang="en-US" altLang="zh-CN" sz="1400" b="1" dirty="0"/>
              <a:t>Acc</a:t>
            </a:r>
            <a:r>
              <a:rPr lang="zh-CN" altLang="en-US" sz="1400" b="1" dirty="0"/>
              <a:t>）</a:t>
            </a:r>
            <a:endParaRPr lang="en-US" altLang="zh-CN" sz="1400" b="1" dirty="0"/>
          </a:p>
          <a:p>
            <a:pPr lvl="1"/>
            <a:endParaRPr lang="en-US" altLang="zh-CN" sz="1400" b="1" dirty="0"/>
          </a:p>
          <a:p>
            <a:r>
              <a:rPr lang="zh-CN" altLang="en-US" b="1" dirty="0"/>
              <a:t>（</a:t>
            </a:r>
            <a:r>
              <a:rPr lang="en-US" altLang="zh-CN" b="1" dirty="0"/>
              <a:t>2</a:t>
            </a:r>
            <a:r>
              <a:rPr lang="zh-CN" altLang="en-US" b="1" dirty="0"/>
              <a:t>）消融实验</a:t>
            </a:r>
            <a:endParaRPr lang="en-US" altLang="zh-CN" b="1" dirty="0"/>
          </a:p>
          <a:p>
            <a:pPr lvl="1"/>
            <a:r>
              <a:rPr lang="zh-CN" altLang="en-US" sz="1400" b="1" dirty="0"/>
              <a:t>在</a:t>
            </a:r>
            <a:r>
              <a:rPr lang="en-US" altLang="zh-CN" sz="1400" b="1" dirty="0"/>
              <a:t>ISIC2016</a:t>
            </a:r>
            <a:r>
              <a:rPr lang="zh-CN" altLang="en-US" sz="1400" b="1" dirty="0"/>
              <a:t>数据集下，测试各组件对模型的性能提升</a:t>
            </a:r>
            <a:endParaRPr lang="en-US" altLang="zh-CN" sz="1400" b="1" dirty="0"/>
          </a:p>
          <a:p>
            <a:pPr lvl="1"/>
            <a:endParaRPr lang="en-US" altLang="zh-CN" sz="1400" b="1" dirty="0"/>
          </a:p>
          <a:p>
            <a:r>
              <a:rPr lang="zh-CN" altLang="en-US" b="1" dirty="0"/>
              <a:t>（</a:t>
            </a:r>
            <a:r>
              <a:rPr lang="en-US" altLang="zh-CN" b="1" dirty="0"/>
              <a:t>3</a:t>
            </a:r>
            <a:r>
              <a:rPr lang="zh-CN" altLang="en-US" b="1" dirty="0"/>
              <a:t>）隐式分割图集成性能实验</a:t>
            </a:r>
            <a:endParaRPr lang="en-US" altLang="zh-CN" b="1" dirty="0"/>
          </a:p>
          <a:p>
            <a:pPr lvl="1"/>
            <a:r>
              <a:rPr lang="zh-CN" altLang="en-US" sz="1400" b="1" dirty="0"/>
              <a:t>对比不同扩散模型集成效果以及集成收敛的效率</a:t>
            </a:r>
            <a:endParaRPr lang="en-US" altLang="zh-CN" sz="1400" b="1" dirty="0"/>
          </a:p>
          <a:p>
            <a:pPr lvl="1"/>
            <a:r>
              <a:rPr lang="zh-CN" altLang="en-US" sz="1400" b="1" dirty="0"/>
              <a:t>（</a:t>
            </a:r>
            <a:r>
              <a:rPr lang="en-US" altLang="zh-CN" sz="1400" b="1" dirty="0" err="1"/>
              <a:t>MedSegDiff</a:t>
            </a:r>
            <a:r>
              <a:rPr lang="zh-CN" altLang="en-US" sz="1400" b="1" dirty="0"/>
              <a:t>、</a:t>
            </a:r>
            <a:r>
              <a:rPr lang="en-US" altLang="zh-CN" sz="1400" dirty="0"/>
              <a:t> </a:t>
            </a:r>
            <a:r>
              <a:rPr lang="en-US" altLang="zh-CN" sz="1400" b="1" dirty="0" err="1"/>
              <a:t>DermoSegDif</a:t>
            </a:r>
            <a:r>
              <a:rPr lang="en-US" altLang="zh-CN" sz="1400" dirty="0"/>
              <a:t> </a:t>
            </a:r>
            <a:r>
              <a:rPr lang="zh-CN" altLang="en-US" sz="1400" b="1" dirty="0"/>
              <a:t>、</a:t>
            </a:r>
            <a:r>
              <a:rPr lang="en-US" altLang="zh-CN" sz="1400" b="1" dirty="0" err="1"/>
              <a:t>SegDiff</a:t>
            </a:r>
            <a:r>
              <a:rPr lang="en-US" altLang="zh-CN" sz="1400" b="1" dirty="0"/>
              <a:t> </a:t>
            </a:r>
            <a:r>
              <a:rPr lang="zh-CN" altLang="en-US" sz="1400" b="1" dirty="0"/>
              <a:t>等）</a:t>
            </a:r>
            <a:endParaRPr lang="en-US" altLang="zh-CN" sz="1400" b="1" dirty="0"/>
          </a:p>
          <a:p>
            <a:pPr lvl="1"/>
            <a:r>
              <a:rPr lang="zh-CN" altLang="en-US" sz="1400" b="1" dirty="0"/>
              <a:t>对每个模型执行 </a:t>
            </a:r>
            <a:r>
              <a:rPr lang="en-US" altLang="zh-CN" sz="1400" b="1" dirty="0"/>
              <a:t>1/5/25/50/75/100 </a:t>
            </a:r>
            <a:r>
              <a:rPr lang="zh-CN" altLang="en-US" sz="1400" b="1" dirty="0"/>
              <a:t>次采样，集成多个隐式分割图，得到最终结果，用 </a:t>
            </a:r>
            <a:r>
              <a:rPr lang="en-US" altLang="zh-CN" sz="1400" b="1" dirty="0"/>
              <a:t>Avg Dice Score</a:t>
            </a:r>
            <a:r>
              <a:rPr lang="zh-CN" altLang="en-US" sz="1400" b="1" dirty="0"/>
              <a:t> 衡量性能。</a:t>
            </a:r>
            <a:endParaRPr lang="en-US" altLang="zh-CN" sz="1400" b="1" dirty="0"/>
          </a:p>
          <a:p>
            <a:pPr lvl="1"/>
            <a:r>
              <a:rPr lang="en-US" altLang="zh-CN" sz="1400" b="1" dirty="0"/>
              <a:t>	</a:t>
            </a:r>
          </a:p>
        </p:txBody>
      </p:sp>
    </p:spTree>
    <p:extLst>
      <p:ext uri="{BB962C8B-B14F-4D97-AF65-F5344CB8AC3E}">
        <p14:creationId xmlns:p14="http://schemas.microsoft.com/office/powerpoint/2010/main" val="98506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8816340" y="6069965"/>
            <a:ext cx="3771900" cy="670560"/>
          </a:xfrm>
          <a:prstGeom prst="rect">
            <a:avLst/>
          </a:prstGeom>
        </p:spPr>
      </p:pic>
      <p:sp>
        <p:nvSpPr>
          <p:cNvPr id="9" name="矩形 8"/>
          <p:cNvSpPr/>
          <p:nvPr/>
        </p:nvSpPr>
        <p:spPr>
          <a:xfrm>
            <a:off x="-3810" y="-11430"/>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366440" y="458182"/>
            <a:ext cx="10626387" cy="583565"/>
          </a:xfrm>
          <a:prstGeom prst="rect">
            <a:avLst/>
          </a:prstGeom>
          <a:noFill/>
        </p:spPr>
        <p:txBody>
          <a:bodyPr wrap="square">
            <a:spAutoFit/>
          </a:bodyPr>
          <a:lstStyle/>
          <a:p>
            <a:pPr indent="0">
              <a:buFont typeface="+mj-lt"/>
              <a:buNone/>
            </a:pPr>
            <a:r>
              <a:rPr lang="en-US" sz="3200" dirty="0">
                <a:solidFill>
                  <a:schemeClr val="bg1"/>
                </a:solidFill>
                <a:latin typeface="微软雅黑" panose="020B0503020204020204" charset="-122"/>
                <a:ea typeface="微软雅黑" panose="020B0503020204020204" charset="-122"/>
                <a:sym typeface="+mn-ea"/>
              </a:rPr>
              <a:t> </a:t>
            </a:r>
            <a:r>
              <a:rPr lang="zh-CN" altLang="en-US" sz="3200" dirty="0">
                <a:solidFill>
                  <a:schemeClr val="bg1"/>
                </a:solidFill>
                <a:latin typeface="微软雅黑" panose="020B0503020204020204" charset="-122"/>
                <a:ea typeface="微软雅黑" panose="020B0503020204020204" charset="-122"/>
                <a:sym typeface="+mn-ea"/>
              </a:rPr>
              <a:t>实验设计</a:t>
            </a:r>
            <a:endParaRPr lang="en-US" sz="3200" dirty="0">
              <a:solidFill>
                <a:schemeClr val="bg1"/>
              </a:solidFill>
              <a:latin typeface="微软雅黑" panose="020B0503020204020204" charset="-122"/>
              <a:ea typeface="微软雅黑" panose="020B0503020204020204" charset="-122"/>
              <a:sym typeface="+mn-ea"/>
            </a:endParaRPr>
          </a:p>
        </p:txBody>
      </p:sp>
      <p:sp>
        <p:nvSpPr>
          <p:cNvPr id="10" name="文本框 9">
            <a:extLst>
              <a:ext uri="{FF2B5EF4-FFF2-40B4-BE49-F238E27FC236}">
                <a16:creationId xmlns:a16="http://schemas.microsoft.com/office/drawing/2014/main" id="{50F91D1C-ABEB-4444-AF1E-FE399B62EA8F}"/>
              </a:ext>
            </a:extLst>
          </p:cNvPr>
          <p:cNvSpPr txBox="1"/>
          <p:nvPr/>
        </p:nvSpPr>
        <p:spPr>
          <a:xfrm>
            <a:off x="331161" y="1693561"/>
            <a:ext cx="1319702" cy="461665"/>
          </a:xfrm>
          <a:prstGeom prst="rect">
            <a:avLst/>
          </a:prstGeom>
          <a:noFill/>
        </p:spPr>
        <p:txBody>
          <a:bodyPr wrap="square">
            <a:spAutoFit/>
          </a:bodyPr>
          <a:lstStyle/>
          <a:p>
            <a:r>
              <a:rPr lang="zh-CN" altLang="en-US" sz="2400" b="1" dirty="0"/>
              <a:t>数据集</a:t>
            </a:r>
          </a:p>
        </p:txBody>
      </p:sp>
      <p:sp>
        <p:nvSpPr>
          <p:cNvPr id="11" name="文本框 10">
            <a:extLst>
              <a:ext uri="{FF2B5EF4-FFF2-40B4-BE49-F238E27FC236}">
                <a16:creationId xmlns:a16="http://schemas.microsoft.com/office/drawing/2014/main" id="{ED0A207F-1E40-403B-A71A-9B0BA8E585D7}"/>
              </a:ext>
            </a:extLst>
          </p:cNvPr>
          <p:cNvSpPr txBox="1"/>
          <p:nvPr/>
        </p:nvSpPr>
        <p:spPr>
          <a:xfrm>
            <a:off x="331160" y="2243884"/>
            <a:ext cx="4478089" cy="4431983"/>
          </a:xfrm>
          <a:prstGeom prst="rect">
            <a:avLst/>
          </a:prstGeom>
          <a:noFill/>
        </p:spPr>
        <p:txBody>
          <a:bodyPr wrap="square">
            <a:spAutoFit/>
          </a:bodyPr>
          <a:lstStyle/>
          <a:p>
            <a:r>
              <a:rPr lang="en-US" altLang="zh-CN" sz="2400" b="1" dirty="0"/>
              <a:t>ACDC</a:t>
            </a:r>
            <a:r>
              <a:rPr lang="zh-CN" altLang="en-US" sz="1400" dirty="0"/>
              <a:t>该数据集为</a:t>
            </a:r>
            <a:r>
              <a:rPr lang="en-US" altLang="zh-CN" sz="1400" dirty="0"/>
              <a:t>MICCAI 2017</a:t>
            </a:r>
            <a:r>
              <a:rPr lang="zh-CN" altLang="en-US" sz="1400" dirty="0"/>
              <a:t>发布的经典心脏磁共振（</a:t>
            </a:r>
            <a:r>
              <a:rPr lang="en-US" altLang="zh-CN" sz="1400" dirty="0"/>
              <a:t>CMR</a:t>
            </a:r>
            <a:r>
              <a:rPr lang="zh-CN" altLang="en-US" sz="1400" dirty="0"/>
              <a:t>）分割基准，涵盖</a:t>
            </a:r>
            <a:r>
              <a:rPr lang="en-US" altLang="zh-CN" sz="1400" dirty="0"/>
              <a:t>100</a:t>
            </a:r>
            <a:r>
              <a:rPr lang="zh-CN" altLang="en-US" sz="1400" dirty="0"/>
              <a:t>例患者多类病理类型</a:t>
            </a:r>
            <a:r>
              <a:rPr lang="en-US" altLang="zh-CN" sz="1400" dirty="0"/>
              <a:t>CMR</a:t>
            </a:r>
            <a:r>
              <a:rPr lang="zh-CN" altLang="en-US" sz="1400" dirty="0"/>
              <a:t>数据，包含背景、右心室、心肌、左心室四类专业标注。本文参照</a:t>
            </a:r>
            <a:r>
              <a:rPr lang="en-US" altLang="zh-CN" sz="1400" dirty="0" err="1"/>
              <a:t>TransUNet</a:t>
            </a:r>
            <a:r>
              <a:rPr lang="zh-CN" altLang="en-US" sz="1400" dirty="0"/>
              <a:t>标准流程完成数据集预处理。</a:t>
            </a:r>
            <a:endParaRPr lang="en-US" altLang="zh-CN" sz="1400" dirty="0"/>
          </a:p>
          <a:p>
            <a:endParaRPr lang="en-US" altLang="zh-CN" sz="1400" dirty="0"/>
          </a:p>
          <a:p>
            <a:r>
              <a:rPr lang="en-US" altLang="zh-CN" sz="2400" b="1" dirty="0"/>
              <a:t>PH2</a:t>
            </a:r>
            <a:r>
              <a:rPr lang="zh-CN" altLang="en-US" sz="1400" dirty="0"/>
              <a:t>皮肤病变数据集，在此数据集上与上文方法一提出的模型做对比</a:t>
            </a:r>
            <a:endParaRPr lang="en-US" altLang="zh-CN" sz="1400" dirty="0"/>
          </a:p>
          <a:p>
            <a:endParaRPr lang="en-US" altLang="zh-CN" sz="1400" dirty="0"/>
          </a:p>
          <a:p>
            <a:r>
              <a:rPr lang="en-US" altLang="zh-CN" sz="2400" b="1" dirty="0" err="1"/>
              <a:t>Kvasir</a:t>
            </a:r>
            <a:r>
              <a:rPr lang="zh-CN" altLang="en-US" sz="1400" dirty="0"/>
              <a:t>该数据集由 </a:t>
            </a:r>
            <a:r>
              <a:rPr lang="en-US" altLang="zh-CN" sz="1400" dirty="0" err="1"/>
              <a:t>Simula</a:t>
            </a:r>
            <a:r>
              <a:rPr lang="en-US" altLang="zh-CN" sz="1400" dirty="0"/>
              <a:t> Research Laboratory </a:t>
            </a:r>
            <a:r>
              <a:rPr lang="zh-CN" altLang="en-US" sz="1400" dirty="0"/>
              <a:t>发布，包含 </a:t>
            </a:r>
            <a:r>
              <a:rPr lang="en-US" altLang="zh-CN" sz="1400" dirty="0"/>
              <a:t>1000 </a:t>
            </a:r>
            <a:r>
              <a:rPr lang="zh-CN" altLang="en-US" sz="1400" dirty="0"/>
              <a:t>张结肠镜检查图像及对应的像素级分割标注，图像均采集自真实临床内镜检查场景，涵盖不同大小、形态、颜色及纹理的息肉样本，具有较高的类内多样性，在数据划分方面，背景纹理与病灶外观高度相似，是验证双流特征频域互补性在小目标与低对比度场景下有效性的理想基准。</a:t>
            </a:r>
            <a:br>
              <a:rPr lang="en-US" altLang="zh-CN" sz="1400" dirty="0"/>
            </a:br>
            <a:br>
              <a:rPr lang="en-US" altLang="zh-CN" sz="1400" dirty="0"/>
            </a:br>
            <a:endParaRPr lang="en-US" altLang="zh-CN" sz="1400" dirty="0"/>
          </a:p>
          <a:p>
            <a:endParaRPr lang="zh-CN" altLang="en-US" sz="1400" dirty="0"/>
          </a:p>
        </p:txBody>
      </p:sp>
      <p:sp>
        <p:nvSpPr>
          <p:cNvPr id="12" name="文本框 11">
            <a:extLst>
              <a:ext uri="{FF2B5EF4-FFF2-40B4-BE49-F238E27FC236}">
                <a16:creationId xmlns:a16="http://schemas.microsoft.com/office/drawing/2014/main" id="{83602BB0-9E5C-4B14-9A6D-FE086C30C526}"/>
              </a:ext>
            </a:extLst>
          </p:cNvPr>
          <p:cNvSpPr txBox="1"/>
          <p:nvPr/>
        </p:nvSpPr>
        <p:spPr>
          <a:xfrm>
            <a:off x="5847217" y="1693561"/>
            <a:ext cx="2318128" cy="461665"/>
          </a:xfrm>
          <a:prstGeom prst="rect">
            <a:avLst/>
          </a:prstGeom>
          <a:noFill/>
        </p:spPr>
        <p:txBody>
          <a:bodyPr wrap="square">
            <a:spAutoFit/>
          </a:bodyPr>
          <a:lstStyle/>
          <a:p>
            <a:r>
              <a:rPr lang="zh-CN" altLang="en-US" sz="2400" b="1" dirty="0"/>
              <a:t>实验设置</a:t>
            </a:r>
          </a:p>
        </p:txBody>
      </p:sp>
      <p:sp>
        <p:nvSpPr>
          <p:cNvPr id="13" name="文本框 12">
            <a:extLst>
              <a:ext uri="{FF2B5EF4-FFF2-40B4-BE49-F238E27FC236}">
                <a16:creationId xmlns:a16="http://schemas.microsoft.com/office/drawing/2014/main" id="{83F4BFFC-A53B-4415-967F-6077D7C20EA6}"/>
              </a:ext>
            </a:extLst>
          </p:cNvPr>
          <p:cNvSpPr txBox="1"/>
          <p:nvPr/>
        </p:nvSpPr>
        <p:spPr>
          <a:xfrm>
            <a:off x="5943908" y="2385644"/>
            <a:ext cx="5424307" cy="3077766"/>
          </a:xfrm>
          <a:prstGeom prst="rect">
            <a:avLst/>
          </a:prstGeom>
          <a:noFill/>
        </p:spPr>
        <p:txBody>
          <a:bodyPr wrap="square">
            <a:spAutoFit/>
          </a:bodyPr>
          <a:lstStyle/>
          <a:p>
            <a:r>
              <a:rPr lang="zh-CN" altLang="en-US" b="1" dirty="0"/>
              <a:t>（</a:t>
            </a:r>
            <a:r>
              <a:rPr lang="en-US" altLang="zh-CN" b="1" dirty="0"/>
              <a:t>1</a:t>
            </a:r>
            <a:r>
              <a:rPr lang="zh-CN" altLang="en-US" b="1" dirty="0"/>
              <a:t>）分割效果对比实验</a:t>
            </a:r>
            <a:endParaRPr lang="en-US" altLang="zh-CN" b="1" dirty="0"/>
          </a:p>
          <a:p>
            <a:pPr lvl="1"/>
            <a:r>
              <a:rPr lang="zh-CN" altLang="en-US" sz="1400" b="1" dirty="0"/>
              <a:t>在三种数据集下，与近年来主流的确定性分割模型（</a:t>
            </a:r>
            <a:r>
              <a:rPr lang="en-US" altLang="zh-CN" sz="1400" b="1" dirty="0" err="1"/>
              <a:t>CNN+Transformer</a:t>
            </a:r>
            <a:r>
              <a:rPr lang="zh-CN" altLang="en-US" sz="1400" b="1" dirty="0"/>
              <a:t>）和扩散分割模型对比</a:t>
            </a:r>
            <a:endParaRPr lang="en-US" altLang="zh-CN" sz="1400" b="1" dirty="0"/>
          </a:p>
          <a:p>
            <a:pPr lvl="1"/>
            <a:r>
              <a:rPr lang="zh-CN" altLang="en-US" sz="1400" b="1" dirty="0"/>
              <a:t>评价指标：</a:t>
            </a:r>
            <a:r>
              <a:rPr lang="en-US" altLang="zh-CN" sz="1400" b="1" dirty="0"/>
              <a:t>dice</a:t>
            </a:r>
            <a:r>
              <a:rPr lang="zh-CN" altLang="en-US" sz="1400" b="1" dirty="0"/>
              <a:t>系数，交并比又（平均</a:t>
            </a:r>
            <a:r>
              <a:rPr lang="en-US" altLang="zh-CN" sz="1400" b="1" dirty="0" err="1"/>
              <a:t>IoU</a:t>
            </a:r>
            <a:r>
              <a:rPr lang="zh-CN" altLang="en-US" sz="1400" b="1" dirty="0"/>
              <a:t>），精确率（</a:t>
            </a:r>
            <a:r>
              <a:rPr lang="en-US" altLang="zh-CN" sz="1400" b="1" dirty="0"/>
              <a:t>Acc</a:t>
            </a:r>
            <a:r>
              <a:rPr lang="zh-CN" altLang="en-US" sz="1400" b="1" dirty="0"/>
              <a:t>）</a:t>
            </a:r>
            <a:endParaRPr lang="en-US" altLang="zh-CN" sz="1400" b="1" dirty="0"/>
          </a:p>
          <a:p>
            <a:pPr lvl="1"/>
            <a:endParaRPr lang="en-US" altLang="zh-CN" sz="1400" b="1" dirty="0"/>
          </a:p>
          <a:p>
            <a:r>
              <a:rPr lang="zh-CN" altLang="en-US" b="1" dirty="0"/>
              <a:t>（</a:t>
            </a:r>
            <a:r>
              <a:rPr lang="en-US" altLang="zh-CN" b="1" dirty="0"/>
              <a:t>2</a:t>
            </a:r>
            <a:r>
              <a:rPr lang="zh-CN" altLang="en-US" b="1" dirty="0"/>
              <a:t>）消融实验</a:t>
            </a:r>
            <a:endParaRPr lang="en-US" altLang="zh-CN" b="1" dirty="0"/>
          </a:p>
          <a:p>
            <a:pPr lvl="1"/>
            <a:r>
              <a:rPr lang="zh-CN" altLang="en-US" sz="1400" b="1" dirty="0"/>
              <a:t>测试各组件对模型的性能提升</a:t>
            </a:r>
            <a:endParaRPr lang="en-US" altLang="zh-CN" sz="1400" b="1" dirty="0"/>
          </a:p>
          <a:p>
            <a:pPr lvl="1"/>
            <a:endParaRPr lang="en-US" altLang="zh-CN" sz="1400" b="1" dirty="0"/>
          </a:p>
          <a:p>
            <a:r>
              <a:rPr lang="zh-CN" altLang="en-US" b="1" dirty="0"/>
              <a:t>（</a:t>
            </a:r>
            <a:r>
              <a:rPr lang="en-US" altLang="zh-CN" b="1" dirty="0"/>
              <a:t>3</a:t>
            </a:r>
            <a:r>
              <a:rPr lang="zh-CN" altLang="en-US" b="1" dirty="0"/>
              <a:t>）模型训练与推理效率对比实验</a:t>
            </a:r>
            <a:endParaRPr lang="en-US" altLang="zh-CN" b="1" dirty="0"/>
          </a:p>
          <a:p>
            <a:pPr lvl="1"/>
            <a:r>
              <a:rPr lang="zh-CN" altLang="en-US" sz="1400" b="1" dirty="0"/>
              <a:t>评估并对比不同扩散医学图像分割方法在训练资源消耗、推理速度以及在 分割精度（</a:t>
            </a:r>
            <a:r>
              <a:rPr lang="en-US" altLang="zh-CN" sz="1400" b="1" dirty="0"/>
              <a:t>Dice </a:t>
            </a:r>
            <a:r>
              <a:rPr lang="zh-CN" altLang="en-US" sz="1400" b="1" dirty="0"/>
              <a:t>分数）上的综合表现，重点验证本章提出的 “单步推理” 方法的效率优势。</a:t>
            </a:r>
            <a:endParaRPr lang="en-US" altLang="zh-CN" sz="1400" b="1" dirty="0"/>
          </a:p>
          <a:p>
            <a:pPr lvl="1"/>
            <a:r>
              <a:rPr lang="en-US" altLang="zh-CN" sz="1400" b="1" dirty="0"/>
              <a:t>	</a:t>
            </a:r>
          </a:p>
        </p:txBody>
      </p:sp>
    </p:spTree>
    <p:extLst>
      <p:ext uri="{BB962C8B-B14F-4D97-AF65-F5344CB8AC3E}">
        <p14:creationId xmlns:p14="http://schemas.microsoft.com/office/powerpoint/2010/main" val="3151087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8816340" y="6069965"/>
            <a:ext cx="3771900" cy="670560"/>
          </a:xfrm>
          <a:prstGeom prst="rect">
            <a:avLst/>
          </a:prstGeom>
        </p:spPr>
      </p:pic>
      <p:sp>
        <p:nvSpPr>
          <p:cNvPr id="9" name="矩形 8"/>
          <p:cNvSpPr/>
          <p:nvPr/>
        </p:nvSpPr>
        <p:spPr>
          <a:xfrm>
            <a:off x="-3810" y="-11430"/>
            <a:ext cx="12192000" cy="15240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366440" y="458182"/>
            <a:ext cx="10626387" cy="583565"/>
          </a:xfrm>
          <a:prstGeom prst="rect">
            <a:avLst/>
          </a:prstGeom>
          <a:noFill/>
        </p:spPr>
        <p:txBody>
          <a:bodyPr wrap="square">
            <a:spAutoFit/>
          </a:bodyPr>
          <a:lstStyle/>
          <a:p>
            <a:pPr indent="0">
              <a:buFont typeface="+mj-lt"/>
              <a:buNone/>
            </a:pPr>
            <a:r>
              <a:rPr lang="zh-CN" altLang="en-US" sz="3200" dirty="0">
                <a:solidFill>
                  <a:schemeClr val="bg1"/>
                </a:solidFill>
                <a:latin typeface="微软雅黑" panose="020B0503020204020204" charset="-122"/>
                <a:ea typeface="微软雅黑" panose="020B0503020204020204" charset="-122"/>
                <a:sym typeface="+mn-ea"/>
              </a:rPr>
              <a:t>目录安排</a:t>
            </a:r>
            <a:endParaRPr lang="en-US" sz="3200" dirty="0">
              <a:solidFill>
                <a:schemeClr val="bg1"/>
              </a:solidFill>
              <a:latin typeface="微软雅黑" panose="020B0503020204020204" charset="-122"/>
              <a:ea typeface="微软雅黑" panose="020B0503020204020204" charset="-122"/>
              <a:sym typeface="+mn-ea"/>
            </a:endParaRPr>
          </a:p>
        </p:txBody>
      </p:sp>
      <p:pic>
        <p:nvPicPr>
          <p:cNvPr id="4" name="图片 3">
            <a:extLst>
              <a:ext uri="{FF2B5EF4-FFF2-40B4-BE49-F238E27FC236}">
                <a16:creationId xmlns:a16="http://schemas.microsoft.com/office/drawing/2014/main" id="{18DC483A-4DC7-49C9-8E01-382D188DD203}"/>
              </a:ext>
            </a:extLst>
          </p:cNvPr>
          <p:cNvPicPr>
            <a:picLocks noChangeAspect="1"/>
          </p:cNvPicPr>
          <p:nvPr/>
        </p:nvPicPr>
        <p:blipFill>
          <a:blip r:embed="rId4"/>
          <a:stretch>
            <a:fillRect/>
          </a:stretch>
        </p:blipFill>
        <p:spPr>
          <a:xfrm>
            <a:off x="820313" y="1598210"/>
            <a:ext cx="4156988" cy="4753574"/>
          </a:xfrm>
          <a:prstGeom prst="rect">
            <a:avLst/>
          </a:prstGeom>
        </p:spPr>
      </p:pic>
      <p:pic>
        <p:nvPicPr>
          <p:cNvPr id="8" name="图片 7">
            <a:extLst>
              <a:ext uri="{FF2B5EF4-FFF2-40B4-BE49-F238E27FC236}">
                <a16:creationId xmlns:a16="http://schemas.microsoft.com/office/drawing/2014/main" id="{EA5DB513-1769-47BC-87A1-D2A013502C6B}"/>
              </a:ext>
            </a:extLst>
          </p:cNvPr>
          <p:cNvPicPr>
            <a:picLocks noChangeAspect="1"/>
          </p:cNvPicPr>
          <p:nvPr/>
        </p:nvPicPr>
        <p:blipFill>
          <a:blip r:embed="rId5"/>
          <a:stretch>
            <a:fillRect/>
          </a:stretch>
        </p:blipFill>
        <p:spPr>
          <a:xfrm>
            <a:off x="5382603" y="1598210"/>
            <a:ext cx="4299390" cy="4753214"/>
          </a:xfrm>
          <a:prstGeom prst="rect">
            <a:avLst/>
          </a:prstGeom>
        </p:spPr>
      </p:pic>
    </p:spTree>
    <p:extLst>
      <p:ext uri="{BB962C8B-B14F-4D97-AF65-F5344CB8AC3E}">
        <p14:creationId xmlns:p14="http://schemas.microsoft.com/office/powerpoint/2010/main" val="1741574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75"/>
            <a:ext cx="12192000" cy="5943600"/>
          </a:xfrm>
          <a:prstGeom prst="rect">
            <a:avLst/>
          </a:prstGeom>
          <a:solidFill>
            <a:srgbClr val="85190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cxnSp>
        <p:nvCxnSpPr>
          <p:cNvPr id="11" name="直接连接符 10"/>
          <p:cNvCxnSpPr/>
          <p:nvPr/>
        </p:nvCxnSpPr>
        <p:spPr>
          <a:xfrm>
            <a:off x="277210" y="3786121"/>
            <a:ext cx="71977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79705" y="2903220"/>
            <a:ext cx="11826240" cy="952500"/>
          </a:xfrm>
          <a:prstGeom prst="rect">
            <a:avLst/>
          </a:prstGeom>
          <a:noFill/>
        </p:spPr>
        <p:txBody>
          <a:bodyPr wrap="square" rtlCol="0">
            <a:noAutofit/>
          </a:bodyPr>
          <a:lstStyle/>
          <a:p>
            <a:r>
              <a:rPr lang="en-US" sz="4400" dirty="0">
                <a:solidFill>
                  <a:srgbClr val="FFFFFF"/>
                </a:solidFill>
                <a:latin typeface="微软雅黑" panose="020B0503020204020204" charset="-122"/>
                <a:ea typeface="微软雅黑" panose="020B0503020204020204" charset="-122"/>
              </a:rPr>
              <a:t>Thanks</a:t>
            </a:r>
          </a:p>
        </p:txBody>
      </p:sp>
      <p:pic>
        <p:nvPicPr>
          <p:cNvPr id="4" name="图片 3"/>
          <p:cNvPicPr>
            <a:picLocks noChangeAspect="1"/>
          </p:cNvPicPr>
          <p:nvPr/>
        </p:nvPicPr>
        <p:blipFill>
          <a:blip r:embed="rId2"/>
          <a:stretch>
            <a:fillRect/>
          </a:stretch>
        </p:blipFill>
        <p:spPr>
          <a:xfrm>
            <a:off x="8816340" y="6069965"/>
            <a:ext cx="3771900" cy="6705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advTm="11835">
        <p159:morph option="byObject"/>
      </p:transition>
    </mc:Choice>
    <mc:Fallback xmlns="">
      <p:transition spd="slow" advTm="11835">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123e144a-fb36-4aad-970a-0da6d50684bc"/>
  <p:tag name="COMMONDATA" val="eyJoZGlkIjoiZjBiMDdjYjRkMzQyNTNkYTFkOGZmYTc3NzFhOTVlNT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7958</TotalTime>
  <Words>1574</Words>
  <Application>Microsoft Office PowerPoint</Application>
  <PresentationFormat>宽屏</PresentationFormat>
  <Paragraphs>96</Paragraphs>
  <Slides>10</Slides>
  <Notes>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-apple-system</vt:lpstr>
      <vt:lpstr>Inter</vt:lpstr>
      <vt:lpstr>Twemoji Country Flags</vt:lpstr>
      <vt:lpstr>华文中宋</vt:lpstr>
      <vt:lpstr>宋体</vt:lpstr>
      <vt:lpstr>微软雅黑</vt:lpstr>
      <vt:lpstr>Arial</vt:lpstr>
      <vt:lpstr>Calibri</vt:lpstr>
      <vt:lpstr>Times New Roman</vt:lpstr>
      <vt:lpstr>Wingdings</vt:lpstr>
      <vt:lpstr>Office 主题​​</vt:lpstr>
      <vt:lpstr>基于扩散模型的模糊医学图像分割方法 </vt:lpstr>
      <vt:lpstr>研究背景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 mu</dc:creator>
  <cp:lastModifiedBy>xiao mu</cp:lastModifiedBy>
  <cp:revision>97</cp:revision>
  <dcterms:created xsi:type="dcterms:W3CDTF">2024-10-18T06:16:54Z</dcterms:created>
  <dcterms:modified xsi:type="dcterms:W3CDTF">2026-03-25T11:16:35Z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2052-6.11.0.8885</vt:lpwstr>
  </property>
  <property fmtid="{D5CDD505-2E9C-101B-9397-08002B2CF9AE}" pid="3" name="ICV">
    <vt:lpwstr>F0996B67AB91EEE256FD1167C8669EF7_43</vt:lpwstr>
  </property>
</Properties>
</file>