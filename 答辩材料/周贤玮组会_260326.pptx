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292" r:id="rId5"/>
    <p:sldId id="326" r:id="rId6"/>
    <p:sldId id="369" r:id="rId7"/>
    <p:sldId id="341" r:id="rId8"/>
    <p:sldId id="375" r:id="rId9"/>
    <p:sldId id="365" r:id="rId10"/>
    <p:sldId id="373" r:id="rId11"/>
    <p:sldId id="259" r:id="rId12"/>
  </p:sldIdLst>
  <p:sldSz cx="12192000" cy="6858000"/>
  <p:notesSz cx="7103745" cy="10234295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o mu" initials="xm" lastIdx="2" clrIdx="0"/>
  <p:cmAuthor id="1662477284" name="周贤玮" initials="周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85190F"/>
    <a:srgbClr val="FFFFFF"/>
    <a:srgbClr val="B2B2B2"/>
    <a:srgbClr val="202020"/>
    <a:srgbClr val="323232"/>
    <a:srgbClr val="CC3300"/>
    <a:srgbClr val="CC0000"/>
    <a:srgbClr val="FF33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78" autoAdjust="0"/>
    <p:restoredTop sz="79247" autoAdjust="0"/>
  </p:normalViewPr>
  <p:slideViewPr>
    <p:cSldViewPr snapToGrid="0" showGuides="1">
      <p:cViewPr varScale="1">
        <p:scale>
          <a:sx n="65" d="100"/>
          <a:sy n="65" d="100"/>
        </p:scale>
        <p:origin x="60" y="56"/>
      </p:cViewPr>
      <p:guideLst>
        <p:guide orient="horz" pos="2121"/>
        <p:guide pos="3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7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所以作为医学图像分析中的重要环节的医学图像分割，能否准确地分割图像则变得尤为关键。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这一页介绍</a:t>
            </a:r>
            <a:r>
              <a:rPr kumimoji="1" lang="en-US" altLang="zh-CN"/>
              <a:t> Balance Loss</a:t>
            </a:r>
            <a:r>
              <a:rPr kumimoji="1" lang="zh-CN" altLang="en-US"/>
              <a:t>。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在本文设定中，</a:t>
            </a:r>
            <a:r>
              <a:rPr kumimoji="1" lang="en-US" altLang="zh-CN"/>
              <a:t>MedSAM </a:t>
            </a:r>
            <a:r>
              <a:rPr kumimoji="1" lang="zh-CN" altLang="en-US"/>
              <a:t>在</a:t>
            </a:r>
            <a:r>
              <a:rPr kumimoji="1" lang="en-US" altLang="zh-CN"/>
              <a:t> box prompt </a:t>
            </a:r>
            <a:r>
              <a:rPr kumimoji="1" lang="zh-CN" altLang="en-US"/>
              <a:t>条件下执行二值分割任务，输出是当前目标的前景与背景掩码。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对腹部多器官</a:t>
            </a:r>
            <a:r>
              <a:rPr kumimoji="1" lang="en-US" altLang="zh-CN"/>
              <a:t> CT </a:t>
            </a:r>
            <a:r>
              <a:rPr kumimoji="1" lang="zh-CN" altLang="en-US"/>
              <a:t>来说，这里有两个直接问题：一是前景像素远少于背景像素；二是边界、低对比和复杂结构区域中的困难像素数量少，但对结果影响大。</a:t>
            </a:r>
            <a:r>
              <a:rPr kumimoji="1" lang="en-US" altLang="zh-CN"/>
              <a:t>      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Balance Loss </a:t>
            </a:r>
            <a:r>
              <a:rPr kumimoji="1" lang="zh-CN" altLang="en-US"/>
              <a:t>由三个部分组成。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第一部分是</a:t>
            </a:r>
            <a:r>
              <a:rPr kumimoji="1" lang="en-US" altLang="zh-CN"/>
              <a:t> Inter-CBL</a:t>
            </a:r>
            <a:r>
              <a:rPr kumimoji="1" lang="zh-CN" altLang="en-US"/>
              <a:t>，用于处理前景和背景之间的不平衡。它的做法不是让全部背景像素都参与训练，而是只保留更难的那部分背景。具体来说，先看所有背景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zh-CN" altLang="en-US"/>
              <a:t>像素被模型预测为前景的概率，再按这个概率从高到低排序，选出最容易与前景混淆的背景样本参与计算。实现上默认取前景像素数量乘以一个负样本比例，也就是</a:t>
            </a:r>
            <a:endParaRPr kumimoji="1" lang="zh-CN" altLang="en-US"/>
          </a:p>
          <a:p>
            <a:r>
              <a:rPr kumimoji="1" lang="en-US" altLang="zh-CN"/>
              <a:t>   (|F| \times \text{neg_ratio})</a:t>
            </a:r>
            <a:r>
              <a:rPr kumimoji="1" lang="zh-CN" altLang="en-US"/>
              <a:t>，本文默认比例为</a:t>
            </a:r>
            <a:r>
              <a:rPr kumimoji="1" lang="en-US" altLang="zh-CN"/>
              <a:t> 3</a:t>
            </a:r>
            <a:r>
              <a:rPr kumimoji="1" lang="zh-CN" altLang="en-US"/>
              <a:t>。这样处理后，训练重点从大量简单背景转向真正有区分难度的背景区域。</a:t>
            </a:r>
            <a:endParaRPr kumimoji="1" lang="zh-CN" altLang="en-US"/>
          </a:p>
          <a:p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第二部分是</a:t>
            </a:r>
            <a:endParaRPr kumimoji="1" lang="zh-CN" altLang="en-US"/>
          </a:p>
          <a:p>
            <a:r>
              <a:rPr kumimoji="1" lang="en-US" altLang="zh-CN"/>
              <a:t>  Intra-CBL</a:t>
            </a:r>
            <a:r>
              <a:rPr kumimoji="1" lang="zh-CN" altLang="en-US"/>
              <a:t>，用于处理类内困难样本学习不足的问题。它不再区分前景还是背景，而是直接看每个像素当前有多难学。具体做法是计算像素的预测误差，也就是</a:t>
            </a:r>
            <a:r>
              <a:rPr kumimoji="1" lang="en-US" altLang="zh-CN"/>
              <a:t> (e_i</a:t>
            </a:r>
            <a:endParaRPr kumimoji="1" lang="en-US" altLang="zh-CN"/>
          </a:p>
          <a:p>
            <a:r>
              <a:rPr kumimoji="1" lang="en-US" altLang="zh-CN"/>
              <a:t>   = |p_i-y_i|)</a:t>
            </a:r>
            <a:r>
              <a:rPr kumimoji="1" lang="zh-CN" altLang="en-US"/>
              <a:t>。当误差超过阈值</a:t>
            </a:r>
            <a:r>
              <a:rPr kumimoji="1" lang="en-US" altLang="zh-CN"/>
              <a:t> (\tau) </a:t>
            </a:r>
            <a:r>
              <a:rPr kumimoji="1" lang="zh-CN" altLang="en-US"/>
              <a:t>时，把该像素视为困难样本；否则视为简单样本。随后对困难像素赋予更高权重，对简单像素赋予较低权重。这样边界、</a:t>
            </a:r>
            <a:r>
              <a:rPr kumimoji="1" lang="en-US" altLang="zh-CN"/>
              <a:t> </a:t>
            </a:r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zh-CN" altLang="en-US"/>
              <a:t>低对比和低置信度区域会在训练中获得更多关注。</a:t>
            </a:r>
            <a:endParaRPr kumimoji="1" lang="zh-CN" altLang="en-US"/>
          </a:p>
          <a:p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第三个部分是</a:t>
            </a:r>
            <a:r>
              <a:rPr kumimoji="1" lang="en-US" altLang="zh-CN"/>
              <a:t> Dice Loss</a:t>
            </a:r>
            <a:r>
              <a:rPr kumimoji="1" lang="zh-CN" altLang="en-US"/>
              <a:t>，它保留整体区域重叠优化，保证模型在全局层面仍然稳定。</a:t>
            </a:r>
            <a:endParaRPr kumimoji="1" lang="zh-CN" altLang="en-US"/>
          </a:p>
          <a:p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训练方式上，本文以预训练</a:t>
            </a:r>
            <a:r>
              <a:rPr kumimoji="1" lang="en-US" altLang="zh-CN"/>
              <a:t> MedSAM </a:t>
            </a:r>
            <a:r>
              <a:rPr kumimoji="1" lang="zh-CN" altLang="en-US"/>
              <a:t>权重作为初始化。</a:t>
            </a:r>
            <a:r>
              <a:rPr kumimoji="1" lang="en-US" altLang="zh-CN"/>
              <a:t>Prompt Encoder </a:t>
            </a:r>
            <a:r>
              <a:rPr kumimoji="1" lang="zh-CN" altLang="en-US"/>
              <a:t>全程冻结，</a:t>
            </a:r>
            <a:r>
              <a:rPr kumimoji="1" lang="en-US" altLang="zh-CN"/>
              <a:t>Image Encoder </a:t>
            </a:r>
            <a:r>
              <a:rPr kumimoji="1" lang="zh-CN" altLang="en-US"/>
              <a:t>和</a:t>
            </a:r>
            <a:r>
              <a:rPr kumimoji="1" lang="en-US" altLang="zh-CN"/>
              <a:t> Mask Decoder </a:t>
            </a:r>
            <a:r>
              <a:rPr kumimoji="1" lang="zh-CN" altLang="en-US"/>
              <a:t>参与更新。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另外，</a:t>
            </a:r>
            <a:r>
              <a:rPr kumimoji="1" lang="en-US" altLang="zh-CN"/>
              <a:t>Balance Loss </a:t>
            </a:r>
            <a:r>
              <a:rPr kumimoji="1" lang="zh-CN" altLang="en-US"/>
              <a:t>采用两阶段训练策略。第一阶段只使用</a:t>
            </a:r>
            <a:r>
              <a:rPr kumimoji="1" lang="en-US" altLang="zh-CN"/>
              <a:t> Intra-CBL </a:t>
            </a:r>
            <a:r>
              <a:rPr kumimoji="1" lang="zh-CN" altLang="en-US"/>
              <a:t>和</a:t>
            </a:r>
            <a:r>
              <a:rPr kumimoji="1" lang="en-US" altLang="zh-CN"/>
              <a:t> Dice Loss</a:t>
            </a:r>
            <a:r>
              <a:rPr kumimoji="1" lang="zh-CN" altLang="en-US"/>
              <a:t>，让模型先建立基本判别能力；第二阶段再引入完整</a:t>
            </a:r>
            <a:r>
              <a:rPr kumimoji="1" lang="en-US" altLang="zh-CN"/>
              <a:t> Balance</a:t>
            </a:r>
            <a:endParaRPr kumimoji="1" lang="en-US" altLang="zh-CN"/>
          </a:p>
          <a:p>
            <a:r>
              <a:rPr kumimoji="1" lang="en-US" altLang="zh-CN"/>
              <a:t>  Loss</a:t>
            </a:r>
            <a:r>
              <a:rPr kumimoji="1" lang="zh-CN" altLang="en-US"/>
              <a:t>，也就是加入</a:t>
            </a:r>
            <a:r>
              <a:rPr kumimoji="1" lang="en-US" altLang="zh-CN"/>
              <a:t> Inter-CBL</a:t>
            </a:r>
            <a:r>
              <a:rPr kumimoji="1" lang="zh-CN" altLang="en-US"/>
              <a:t>。这样做的原因是训练初期模型还不稳定，如果过早进行困难背景筛选，容易把噪声样本也当作训练重点。</a:t>
            </a:r>
            <a:endParaRPr kumimoji="1" lang="zh-CN" altLang="en-US"/>
          </a:p>
          <a:p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所以，</a:t>
            </a:r>
            <a:r>
              <a:rPr kumimoji="1" lang="en-US" altLang="zh-CN"/>
              <a:t>Balance Loss </a:t>
            </a:r>
            <a:r>
              <a:rPr kumimoji="1" lang="zh-CN" altLang="en-US"/>
              <a:t>的核心思路可以概括为两点：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第一，背景不全部参与训练，而是筛选更难的背景；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第二，像素不等权训练，而是让困难像素获得更高权重。</a:t>
            </a:r>
            <a:endParaRPr kumimoji="1" lang="zh-CN" altLang="en-US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这一页介绍</a:t>
            </a:r>
            <a:r>
              <a:rPr kumimoji="1" lang="en-US" altLang="zh-CN"/>
              <a:t> MSL-Adapter</a:t>
            </a:r>
            <a:r>
              <a:rPr kumimoji="1" lang="zh-CN" altLang="en-US"/>
              <a:t>。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Balance Loss </a:t>
            </a:r>
            <a:r>
              <a:rPr kumimoji="1" lang="zh-CN" altLang="en-US"/>
              <a:t>主要从训练目标层面改善不平衡问题；这一部分则从特征表达层面做增强。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对腹部多器官</a:t>
            </a:r>
            <a:r>
              <a:rPr kumimoji="1" lang="en-US" altLang="zh-CN"/>
              <a:t> CT </a:t>
            </a:r>
            <a:r>
              <a:rPr kumimoji="1" lang="zh-CN" altLang="en-US"/>
              <a:t>来说，很多误差集中在边界模糊、小器官和细粒度结构区域，这些位置需要更强的局部表示能力。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MedSAM </a:t>
            </a:r>
            <a:r>
              <a:rPr kumimoji="1" lang="zh-CN" altLang="en-US"/>
              <a:t>的</a:t>
            </a:r>
            <a:r>
              <a:rPr kumimoji="1" lang="en-US" altLang="zh-CN"/>
              <a:t> Image Encoder </a:t>
            </a:r>
            <a:r>
              <a:rPr kumimoji="1" lang="zh-CN" altLang="en-US"/>
              <a:t>基于</a:t>
            </a:r>
            <a:r>
              <a:rPr kumimoji="1" lang="en-US" altLang="zh-CN"/>
              <a:t> ViT</a:t>
            </a:r>
            <a:r>
              <a:rPr kumimoji="1" lang="zh-CN" altLang="en-US"/>
              <a:t>，优势在于全局语义建模，但对局部高频细节的表达仍有增强空间。</a:t>
            </a:r>
            <a:endParaRPr kumimoji="1" lang="zh-CN" altLang="en-US"/>
          </a:p>
          <a:p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基于这一点，本文提出</a:t>
            </a:r>
            <a:r>
              <a:rPr kumimoji="1" lang="en-US" altLang="zh-CN"/>
              <a:t> MSL-Adapter</a:t>
            </a:r>
            <a:r>
              <a:rPr kumimoji="1" lang="zh-CN" altLang="en-US"/>
              <a:t>，并将其插入在</a:t>
            </a:r>
            <a:r>
              <a:rPr kumimoji="1" lang="en-US" altLang="zh-CN"/>
              <a:t> Image Encoder </a:t>
            </a:r>
            <a:r>
              <a:rPr kumimoji="1" lang="zh-CN" altLang="en-US"/>
              <a:t>与</a:t>
            </a:r>
            <a:r>
              <a:rPr kumimoji="1" lang="en-US" altLang="zh-CN"/>
              <a:t> Mask Decoder</a:t>
            </a:r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zh-CN" altLang="en-US"/>
              <a:t>之间。这个位置的作用是：在编码器已经形成全局语义特征之后，再补充局部空间信息，然后将增强后的特征直接送入解码器。</a:t>
            </a:r>
            <a:endParaRPr kumimoji="1" lang="zh-CN" altLang="en-US"/>
          </a:p>
          <a:p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模块结构采用双路径设计。第一条路径是标准</a:t>
            </a:r>
            <a:r>
              <a:rPr kumimoji="1" lang="en-US" altLang="zh-CN"/>
              <a:t> 3</a:t>
            </a:r>
            <a:r>
              <a:rPr kumimoji="1" lang="en-US" altLang="en-US"/>
              <a:t>×</a:t>
            </a:r>
            <a:r>
              <a:rPr kumimoji="1" lang="en-US" altLang="zh-CN"/>
              <a:t>3 </a:t>
            </a:r>
            <a:r>
              <a:rPr kumimoji="1" lang="zh-CN" altLang="en-US"/>
              <a:t>深度可分离卷积，负责提取局部细节；第二条路径是膨胀</a:t>
            </a:r>
            <a:r>
              <a:rPr kumimoji="1" lang="en-US" altLang="zh-CN"/>
              <a:t> 3</a:t>
            </a:r>
            <a:r>
              <a:rPr kumimoji="1" lang="en-US" altLang="en-US"/>
              <a:t>×</a:t>
            </a:r>
            <a:r>
              <a:rPr kumimoji="1" lang="en-US" altLang="zh-CN"/>
              <a:t>3 </a:t>
            </a:r>
            <a:r>
              <a:rPr kumimoji="1" lang="zh-CN" altLang="en-US"/>
              <a:t>深度可分离卷积，负责扩大感受野，补充中尺度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zh-CN" altLang="en-US"/>
              <a:t>上下文。两路特征拼接后，通过逐点卷积完成融合，再以残差形式注入主管线。这样既保留原有全局语义，又补充了局部边界和高频细节。</a:t>
            </a:r>
            <a:endParaRPr kumimoji="1" lang="zh-CN" altLang="en-US"/>
          </a:p>
          <a:p>
            <a:endParaRPr kumimoji="1" lang="en-US" altLang="zh-CN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训练方式上，本文以预训练</a:t>
            </a:r>
            <a:r>
              <a:rPr kumimoji="1" lang="en-US" altLang="zh-CN"/>
              <a:t> MedSAM </a:t>
            </a:r>
            <a:r>
              <a:rPr kumimoji="1" lang="zh-CN" altLang="en-US"/>
              <a:t>权重作为初始化。</a:t>
            </a:r>
            <a:r>
              <a:rPr kumimoji="1" lang="en-US" altLang="zh-CN"/>
              <a:t>Prompt Encoder </a:t>
            </a:r>
            <a:r>
              <a:rPr kumimoji="1" lang="zh-CN" altLang="en-US"/>
              <a:t>保持冻结，</a:t>
            </a:r>
            <a:r>
              <a:rPr kumimoji="1" lang="en-US" altLang="zh-CN"/>
              <a:t>Image Encoder</a:t>
            </a:r>
            <a:r>
              <a:rPr kumimoji="1" lang="zh-CN" altLang="en-US"/>
              <a:t>、</a:t>
            </a:r>
            <a:r>
              <a:rPr kumimoji="1" lang="en-US" altLang="zh-CN"/>
              <a:t>Mask Decoder </a:t>
            </a:r>
            <a:r>
              <a:rPr kumimoji="1" lang="zh-CN" altLang="en-US"/>
              <a:t>以及新增的</a:t>
            </a:r>
            <a:r>
              <a:rPr kumimoji="1" lang="en-US" altLang="zh-CN"/>
              <a:t> MSL-Adapter </a:t>
            </a:r>
            <a:r>
              <a:rPr kumimoji="1" lang="zh-CN" altLang="en-US"/>
              <a:t>共同参与联合优化。</a:t>
            </a:r>
            <a:endParaRPr kumimoji="1" lang="zh-CN" altLang="en-US"/>
          </a:p>
          <a:p>
            <a:r>
              <a:rPr kumimoji="1" lang="en-US" altLang="zh-CN"/>
              <a:t>  </a:t>
            </a:r>
            <a:r>
              <a:rPr kumimoji="1" lang="en-US" altLang="en-US"/>
              <a:t>▎</a:t>
            </a:r>
            <a:r>
              <a:rPr kumimoji="1" lang="en-US" altLang="zh-CN"/>
              <a:t> </a:t>
            </a:r>
            <a:r>
              <a:rPr kumimoji="1" lang="zh-CN" altLang="en-US"/>
              <a:t>因此，这一模块的作用可以概括为：在保持</a:t>
            </a:r>
            <a:r>
              <a:rPr kumimoji="1" lang="en-US" altLang="zh-CN"/>
              <a:t> ViT </a:t>
            </a:r>
            <a:r>
              <a:rPr kumimoji="1" lang="zh-CN" altLang="en-US"/>
              <a:t>全局建模优势的同时，以较小额外开销增强局部边界表达能力。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</a:t>
            </a:r>
            <a:r>
              <a:rPr kumimoji="1" lang="zh-CN" altLang="en-US" dirty="0"/>
              <a:t>这一页说明本文的实验方案设计。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</a:t>
            </a:r>
            <a:r>
              <a:rPr kumimoji="1" lang="zh-CN" altLang="en-US" dirty="0"/>
              <a:t>在统一实验设定下，本文围绕</a:t>
            </a:r>
            <a:r>
              <a:rPr kumimoji="1" lang="en-US" altLang="zh-CN" dirty="0"/>
              <a:t>“</a:t>
            </a:r>
            <a:r>
              <a:rPr kumimoji="1" lang="zh-CN" altLang="en-US" dirty="0"/>
              <a:t>损失优化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和</a:t>
            </a:r>
            <a:r>
              <a:rPr kumimoji="1" lang="en-US" altLang="zh-CN" dirty="0"/>
              <a:t>“</a:t>
            </a:r>
            <a:r>
              <a:rPr kumimoji="1" lang="zh-CN" altLang="en-US" dirty="0"/>
              <a:t>结构增强</a:t>
            </a:r>
            <a:r>
              <a:rPr kumimoji="1" lang="en-US" altLang="zh-CN" dirty="0"/>
              <a:t>”</a:t>
            </a:r>
            <a:r>
              <a:rPr kumimoji="1" lang="zh-CN" altLang="en-US" dirty="0"/>
              <a:t>两条主线组织实验。</a:t>
            </a:r>
            <a:endParaRPr kumimoji="1" lang="zh-CN" altLang="en-US" dirty="0"/>
          </a:p>
          <a:p>
            <a:endParaRPr kumimoji="1" lang="en-US" altLang="zh-CN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</a:t>
            </a:r>
            <a:r>
              <a:rPr kumimoji="1" lang="zh-CN" altLang="en-US" dirty="0"/>
              <a:t>首先是损失主线。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A0 </a:t>
            </a:r>
            <a:r>
              <a:rPr kumimoji="1" lang="zh-CN" altLang="en-US" dirty="0"/>
              <a:t>表示原始</a:t>
            </a:r>
            <a:r>
              <a:rPr kumimoji="1" lang="en-US" altLang="zh-CN" dirty="0"/>
              <a:t> MedSAM baseline</a:t>
            </a:r>
            <a:r>
              <a:rPr kumimoji="1" lang="zh-CN" altLang="en-US" dirty="0"/>
              <a:t>，也就是后续所有改进方案的统一比较起点。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A2 </a:t>
            </a:r>
            <a:r>
              <a:rPr kumimoji="1" lang="zh-CN" altLang="en-US" dirty="0"/>
              <a:t>表示在基线基础上引入</a:t>
            </a:r>
            <a:r>
              <a:rPr kumimoji="1" lang="en-US" altLang="zh-CN" dirty="0"/>
              <a:t> Intra-CBL</a:t>
            </a:r>
            <a:r>
              <a:rPr kumimoji="1" lang="zh-CN" altLang="en-US" dirty="0"/>
              <a:t>，用于观察困难像素加权本身带来的影响。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A3 </a:t>
            </a:r>
            <a:r>
              <a:rPr kumimoji="1" lang="zh-CN" altLang="en-US" dirty="0"/>
              <a:t>表示将</a:t>
            </a:r>
            <a:r>
              <a:rPr kumimoji="1" lang="en-US" altLang="zh-CN" dirty="0"/>
              <a:t> Inter-CBL </a:t>
            </a:r>
            <a:r>
              <a:rPr kumimoji="1" lang="zh-CN" altLang="en-US" dirty="0"/>
              <a:t>与</a:t>
            </a:r>
            <a:r>
              <a:rPr kumimoji="1" lang="en-US" altLang="zh-CN" dirty="0"/>
              <a:t> Intra-CBL </a:t>
            </a:r>
            <a:r>
              <a:rPr kumimoji="1" lang="zh-CN" altLang="en-US" dirty="0"/>
              <a:t>直接组合，用于考察完整</a:t>
            </a:r>
            <a:r>
              <a:rPr kumimoji="1" lang="en-US" altLang="zh-CN" dirty="0"/>
              <a:t> Balance Loss </a:t>
            </a:r>
            <a:r>
              <a:rPr kumimoji="1" lang="zh-CN" altLang="en-US" dirty="0"/>
              <a:t>在初始配置下的效果。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A3R3 </a:t>
            </a:r>
            <a:r>
              <a:rPr kumimoji="1" lang="zh-CN" altLang="en-US" dirty="0"/>
              <a:t>则是在退化分析和配置调整之后确定的主线方案，也是后续结构增强实验的基础。</a:t>
            </a:r>
            <a:endParaRPr kumimoji="1" lang="zh-CN" altLang="en-US" dirty="0"/>
          </a:p>
          <a:p>
            <a:endParaRPr kumimoji="1" lang="en-US" altLang="zh-CN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</a:t>
            </a:r>
            <a:r>
              <a:rPr kumimoji="1" lang="zh-CN" altLang="en-US" dirty="0"/>
              <a:t>然后是结构主线。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C2 </a:t>
            </a:r>
            <a:r>
              <a:rPr kumimoji="1" lang="zh-CN" altLang="en-US" dirty="0"/>
              <a:t>表示在</a:t>
            </a:r>
            <a:r>
              <a:rPr kumimoji="1" lang="en-US" altLang="zh-CN" dirty="0"/>
              <a:t> A3R3 </a:t>
            </a:r>
            <a:r>
              <a:rPr kumimoji="1" lang="zh-CN" altLang="en-US" dirty="0"/>
              <a:t>基础上引入</a:t>
            </a:r>
            <a:r>
              <a:rPr kumimoji="1" lang="en-US" altLang="zh-CN" dirty="0"/>
              <a:t> LoRA </a:t>
            </a:r>
            <a:r>
              <a:rPr kumimoji="1" lang="zh-CN" altLang="en-US" dirty="0"/>
              <a:t>方案，用于观察冻结主干的参数高效微调策略在当前任务中的适用性。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C3 </a:t>
            </a:r>
            <a:r>
              <a:rPr kumimoji="1" lang="zh-CN" altLang="en-US" dirty="0"/>
              <a:t>表示在</a:t>
            </a:r>
            <a:r>
              <a:rPr kumimoji="1" lang="en-US" altLang="zh-CN" dirty="0"/>
              <a:t> A3R3 </a:t>
            </a:r>
            <a:r>
              <a:rPr kumimoji="1" lang="zh-CN" altLang="en-US" dirty="0"/>
              <a:t>基础上引入</a:t>
            </a:r>
            <a:r>
              <a:rPr kumimoji="1" lang="en-US" altLang="zh-CN" dirty="0"/>
              <a:t> MSL-Adapter</a:t>
            </a:r>
            <a:r>
              <a:rPr kumimoji="1" lang="zh-CN" altLang="en-US" dirty="0"/>
              <a:t>，用于验证局部结构增强对分割性能的影响。</a:t>
            </a:r>
            <a:endParaRPr kumimoji="1" lang="zh-CN" altLang="en-US" dirty="0"/>
          </a:p>
          <a:p>
            <a:endParaRPr kumimoji="1" lang="en-US" altLang="zh-CN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</a:t>
            </a:r>
            <a:r>
              <a:rPr kumimoji="1" lang="zh-CN" altLang="en-US" dirty="0"/>
              <a:t>因此，这些方案的设置不是彼此孤立的，而是沿着两条清晰主线逐步展开：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</a:t>
            </a:r>
            <a:r>
              <a:rPr kumimoji="1" lang="zh-CN" altLang="en-US" dirty="0"/>
              <a:t>一条主线用于确定损失函数配置，另一条主线用于验证结构增强方式。</a:t>
            </a:r>
            <a:endParaRPr kumimoji="1" lang="zh-CN" altLang="en-US" dirty="0"/>
          </a:p>
          <a:p>
            <a:r>
              <a:rPr kumimoji="1" lang="en-US" altLang="zh-CN" dirty="0"/>
              <a:t>  </a:t>
            </a:r>
            <a:r>
              <a:rPr kumimoji="1" lang="en-US" altLang="en-US" dirty="0"/>
              <a:t>▎</a:t>
            </a:r>
            <a:r>
              <a:rPr kumimoji="1" lang="en-US" altLang="zh-CN" dirty="0"/>
              <a:t> </a:t>
            </a:r>
            <a:r>
              <a:rPr kumimoji="1" lang="zh-CN" altLang="en-US" dirty="0"/>
              <a:t>后续结果页会在这一统一框架下汇报各方案的表现。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2324735"/>
            <a:ext cx="12192000" cy="15240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324732"/>
            <a:ext cx="12192000" cy="1524000"/>
          </a:xfrm>
        </p:spPr>
        <p:txBody>
          <a:bodyPr>
            <a:noAutofit/>
          </a:bodyPr>
          <a:lstStyle/>
          <a:p>
            <a:br>
              <a:rPr lang="zh-CN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基于平衡损失与多尺度局部适配器的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MedSAM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腹部多器官分割方法研究</a:t>
            </a:r>
            <a:b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lang="zh-CN" altLang="zh-CN" sz="2400" kern="100" dirty="0">
              <a:solidFill>
                <a:schemeClr val="bg1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669415" y="5622608"/>
            <a:ext cx="9144000" cy="1655762"/>
          </a:xfrm>
        </p:spPr>
        <p:txBody>
          <a:bodyPr/>
          <a:lstStyle/>
          <a:p>
            <a:pPr algn="ctr"/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周贤玮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 3/ 26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690" y="0"/>
            <a:ext cx="5715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340" y="6120130"/>
            <a:ext cx="3771900" cy="6705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3810" y="-11430"/>
            <a:ext cx="12192000" cy="15240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6440" y="458182"/>
            <a:ext cx="1062638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5055" y="1612900"/>
            <a:ext cx="8397875" cy="2847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88315" y="1599565"/>
            <a:ext cx="11636375" cy="1472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医学图像分割是计算机辅助诊断、术前规划和放疗勾画的重要基础任务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早期主流方法以 CNN 为核心，如 FCN、U-Net、nnU-Net，在特定任务上表现突出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随着全局建模需求增强，ViT 及 CNN+Transformer 方法进一步提升了特征表达能力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在基础模型范式下，SAM → MedSAM 推动医学图像分割从“专用模型”走向“通用分割基座”</a:t>
            </a:r>
            <a:endParaRPr lang="en-US" altLang="zh-CN" sz="18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305" y="3429000"/>
            <a:ext cx="8686800" cy="2470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340" y="6120130"/>
            <a:ext cx="3771900" cy="6705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3810" y="-11430"/>
            <a:ext cx="12192000" cy="15240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6440" y="470882"/>
            <a:ext cx="1062638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MedSam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存在的问题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3505" y="1726565"/>
            <a:ext cx="7469505" cy="2927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像素分布不均衡：腹部多器官 CT 中，前景像素相对背景像素高度稀疏，且器官尺度差异显著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边界与困难区域学习不足：低对比、边界模糊和形态复杂区域中的困难像素容易被大量简单像素淹没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局部高频特征表达有限：基于 ViT 的编码器更偏向全局语义建模，对局部边界细节刻画仍存在不足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这些问题使得 MedSAM 在复杂腹部多器官场景下仍存在进一步优化空间。</a:t>
            </a:r>
            <a:endParaRPr lang="en-US" altLang="zh-CN" sz="1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220" y="2244725"/>
            <a:ext cx="337185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340" y="6120130"/>
            <a:ext cx="3771900" cy="6705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3810" y="-11430"/>
            <a:ext cx="12192000" cy="15240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6440" y="470882"/>
            <a:ext cx="1062638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MedSAM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基座与本文方法概览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3506" y="1726449"/>
            <a:ext cx="5156753" cy="152400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Wingdings" panose="05000000000000000000" charset="0"/>
              <a:buChar char=""/>
            </a:pPr>
            <a:endParaRPr lang="zh-CN" altLang="en-US" sz="2400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03505" y="1726565"/>
            <a:ext cx="11636375" cy="2927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MedSAM 保留了 SAM 的原始提示式分割架构，并未重新设计模型结构，而是通过在大规模医学图像数据上继续训练，实现对医学场景的适配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其整体框架由 Image Encoder、Prompt Encoder 和 Mask Decoder 三部分组成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本文采用 GT box prompt，并以原始 MedSAM 作为统一实验设定下的 baseline（A0）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在此基础上，本文从两个层面进行改进：</a:t>
            </a:r>
            <a:endParaRPr lang="en-US" altLang="zh-CN" sz="1800" dirty="0"/>
          </a:p>
          <a:p>
            <a:pPr lvl="1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损失优化：Balance Loss</a:t>
            </a:r>
            <a:endParaRPr lang="en-US" altLang="zh-CN" sz="1800" dirty="0"/>
          </a:p>
          <a:p>
            <a:pPr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/>
              <a:t>结构增强：MSL-Adapter</a:t>
            </a:r>
            <a:endParaRPr lang="en-US" altLang="zh-CN" sz="1800" dirty="0"/>
          </a:p>
          <a:p>
            <a:pPr indent="0">
              <a:buFont typeface="Arial" panose="020B0604020202020204" pitchFamily="34" charset="0"/>
              <a:buNone/>
            </a:pPr>
            <a:endParaRPr lang="zh-CN" altLang="en-US" sz="2000" kern="100" dirty="0">
              <a:effectLst/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3250565"/>
            <a:ext cx="6021705" cy="22377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45" y="3922395"/>
            <a:ext cx="5965825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340" y="6120130"/>
            <a:ext cx="3771900" cy="6705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3810" y="-11430"/>
            <a:ext cx="12192000" cy="15240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1154" y="473075"/>
            <a:ext cx="1062638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方法一：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Balance Loss</a:t>
            </a:r>
            <a:endParaRPr lang="en-US" altLang="zh-CN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3505" y="1282700"/>
            <a:ext cx="11976735" cy="1039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buFont typeface="Wingdings" panose="05000000000000000000" charset="0"/>
              <a:buNone/>
            </a:pPr>
            <a:endParaRPr lang="en-US" altLang="zh-CN" sz="2200" dirty="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451" y="2100922"/>
            <a:ext cx="6131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altLang="zh-CN" sz="1800" kern="10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7340" y="1769745"/>
            <a:ext cx="5178425" cy="45796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</a:t>
            </a:r>
            <a:r>
              <a:rPr lang="en-US" altLang="zh-CN" dirty="0"/>
              <a:t> box prompt </a:t>
            </a:r>
            <a:r>
              <a:rPr lang="zh-CN" altLang="en-US" dirty="0"/>
              <a:t>驱动的二值分割范式下，模型输出本质上是前景</a:t>
            </a:r>
            <a:r>
              <a:rPr lang="en-US" altLang="zh-CN" dirty="0"/>
              <a:t>/</a:t>
            </a:r>
            <a:r>
              <a:rPr lang="zh-CN" altLang="en-US" dirty="0"/>
              <a:t>背景分割掩码。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传统损失函数往往容易受到大量简单背景像素的主导，从而削弱对小器官、边界区域和复杂结构的学习能力。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本文提出</a:t>
            </a:r>
            <a:r>
              <a:rPr lang="en-US" altLang="zh-CN" dirty="0"/>
              <a:t> Balance Loss</a:t>
            </a:r>
            <a:r>
              <a:rPr lang="zh-CN" altLang="en-US" dirty="0"/>
              <a:t>，从</a:t>
            </a:r>
            <a:r>
              <a:rPr lang="en-US" altLang="zh-CN" dirty="0"/>
              <a:t> </a:t>
            </a:r>
            <a:r>
              <a:rPr lang="zh-CN" altLang="en-US" dirty="0"/>
              <a:t>类间平衡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 </a:t>
            </a:r>
            <a:r>
              <a:rPr lang="zh-CN" altLang="en-US" dirty="0"/>
              <a:t>类内困难样本加权</a:t>
            </a:r>
            <a:r>
              <a:rPr lang="en-US" altLang="zh-CN" dirty="0"/>
              <a:t> </a:t>
            </a:r>
            <a:r>
              <a:rPr lang="zh-CN" altLang="en-US" dirty="0"/>
              <a:t>两个层面重新设计训练目标：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Inter-CBL</a:t>
            </a:r>
            <a:r>
              <a:rPr lang="zh-CN" altLang="en-US" dirty="0"/>
              <a:t>：从背景中选择更有训练价值的困难样本，缓解前景</a:t>
            </a:r>
            <a:r>
              <a:rPr lang="en-US" altLang="zh-CN" dirty="0"/>
              <a:t>/</a:t>
            </a:r>
            <a:r>
              <a:rPr lang="zh-CN" altLang="en-US" dirty="0"/>
              <a:t>背景数量不平衡问题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Intra-CBL</a:t>
            </a:r>
            <a:r>
              <a:rPr lang="zh-CN" altLang="en-US" dirty="0"/>
              <a:t>：对边界、低置信度等困难像素赋予更高权重，强化困难区域学习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Dice Loss</a:t>
            </a:r>
            <a:r>
              <a:rPr lang="zh-CN" altLang="en-US" dirty="0"/>
              <a:t>：维持整体区域重叠优化，保证分割结果的全局一致性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lv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946910"/>
            <a:ext cx="6502400" cy="39052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3710" y="5960110"/>
            <a:ext cx="8234680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ym typeface="+mn-ea"/>
              </a:rPr>
              <a:t>训练上采用两阶段策略：前期仅使用</a:t>
            </a:r>
            <a:r>
              <a:rPr lang="en-US" altLang="zh-CN" dirty="0">
                <a:sym typeface="+mn-ea"/>
              </a:rPr>
              <a:t> Intra-CBL 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 Dice Loss </a:t>
            </a:r>
            <a:r>
              <a:rPr lang="zh-CN" altLang="en-US" dirty="0">
                <a:sym typeface="+mn-ea"/>
              </a:rPr>
              <a:t>稳定收敛，后期再引入完整</a:t>
            </a:r>
            <a:r>
              <a:rPr lang="en-US" altLang="zh-CN" dirty="0">
                <a:sym typeface="+mn-ea"/>
              </a:rPr>
              <a:t> Balance Loss</a:t>
            </a:r>
            <a:r>
              <a:rPr lang="zh-CN" altLang="en-US" dirty="0">
                <a:sym typeface="+mn-ea"/>
              </a:rPr>
              <a:t>，以减弱训练初期困难背景挖掘不稳定带来的干扰。</a:t>
            </a: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340" y="6120130"/>
            <a:ext cx="3771900" cy="6705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3810" y="-11430"/>
            <a:ext cx="12192000" cy="15240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1154" y="473075"/>
            <a:ext cx="1062638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方法二：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MSL-Adapter</a:t>
            </a:r>
            <a:endParaRPr lang="en-US" altLang="zh-CN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3505" y="1282700"/>
            <a:ext cx="11976735" cy="1039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buFont typeface="Wingdings" panose="05000000000000000000" charset="0"/>
              <a:buNone/>
            </a:pPr>
            <a:endParaRPr lang="en-US" altLang="zh-CN" sz="2200" dirty="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451" y="2100922"/>
            <a:ext cx="6131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altLang="zh-CN" sz="1800" kern="10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7340" y="1769745"/>
            <a:ext cx="692912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腹部多器官</a:t>
            </a:r>
            <a:r>
              <a:rPr lang="en-US" altLang="zh-CN" dirty="0"/>
              <a:t> CT </a:t>
            </a:r>
            <a:r>
              <a:rPr lang="zh-CN" altLang="en-US" dirty="0"/>
              <a:t>分割中，边界模糊、小器官和细粒度结构对局部特征表达能力提出了更高要求。</a:t>
            </a:r>
            <a:r>
              <a:rPr lang="en-US" altLang="zh-CN" dirty="0"/>
              <a:t>MedSAM </a:t>
            </a:r>
            <a:r>
              <a:rPr lang="zh-CN" altLang="en-US" dirty="0"/>
              <a:t>的</a:t>
            </a:r>
            <a:r>
              <a:rPr lang="en-US" altLang="zh-CN" dirty="0"/>
              <a:t> Image Encoder </a:t>
            </a:r>
            <a:r>
              <a:rPr lang="zh-CN" altLang="en-US" dirty="0"/>
              <a:t>基于</a:t>
            </a:r>
            <a:r>
              <a:rPr lang="en-US" altLang="zh-CN" dirty="0"/>
              <a:t> ViT</a:t>
            </a:r>
            <a:r>
              <a:rPr lang="zh-CN" altLang="en-US" dirty="0"/>
              <a:t>，更擅长全局语义建模；在局部边界与高频细节表达方面仍有进一步增强空间。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为此，本文提出</a:t>
            </a:r>
            <a:r>
              <a:rPr lang="en-US" altLang="zh-CN" dirty="0"/>
              <a:t> MSL-Adapter</a:t>
            </a:r>
            <a:r>
              <a:rPr lang="zh-CN" altLang="en-US" dirty="0"/>
              <a:t>，并将其插入</a:t>
            </a:r>
            <a:r>
              <a:rPr lang="en-US" altLang="zh-CN" dirty="0"/>
              <a:t> Image Encoder </a:t>
            </a:r>
            <a:r>
              <a:rPr lang="zh-CN" altLang="en-US" dirty="0"/>
              <a:t>与</a:t>
            </a:r>
            <a:r>
              <a:rPr lang="en-US" altLang="zh-CN" dirty="0"/>
              <a:t> Mask Decoder </a:t>
            </a:r>
            <a:r>
              <a:rPr lang="zh-CN" altLang="en-US" dirty="0"/>
              <a:t>之间，用于补充多尺度局部空间信息。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模块采用双路径设计，</a:t>
            </a:r>
            <a:r>
              <a:rPr lang="zh-CN" altLang="en-US" dirty="0">
                <a:sym typeface="+mn-ea"/>
              </a:rPr>
              <a:t>训练时以</a:t>
            </a:r>
            <a:r>
              <a:rPr lang="en-US" altLang="zh-CN" dirty="0">
                <a:sym typeface="+mn-ea"/>
              </a:rPr>
              <a:t> MedSAM </a:t>
            </a:r>
            <a:r>
              <a:rPr lang="zh-CN" altLang="en-US" dirty="0">
                <a:sym typeface="+mn-ea"/>
              </a:rPr>
              <a:t>预训练权重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初始化，冻结</a:t>
            </a:r>
            <a:r>
              <a:rPr lang="en-US" altLang="zh-CN" dirty="0">
                <a:sym typeface="+mn-ea"/>
              </a:rPr>
              <a:t> Prompt Encoder</a:t>
            </a:r>
            <a:r>
              <a:rPr lang="zh-CN" altLang="en-US" dirty="0">
                <a:sym typeface="+mn-ea"/>
              </a:rPr>
              <a:t>，联合优化其余模块</a:t>
            </a:r>
            <a:r>
              <a:rPr lang="zh-CN" altLang="en-US" dirty="0"/>
              <a:t>：</a:t>
            </a:r>
            <a:endParaRPr lang="zh-CN" altLang="en-US" dirty="0"/>
          </a:p>
          <a:p>
            <a:pPr indent="457200">
              <a:buNone/>
            </a:pPr>
            <a:r>
              <a:rPr lang="zh-CN" altLang="en-US" dirty="0"/>
              <a:t>标准</a:t>
            </a:r>
            <a:r>
              <a:rPr lang="en-US" altLang="zh-CN" dirty="0"/>
              <a:t> 3</a:t>
            </a:r>
            <a:r>
              <a:rPr lang="en-US" altLang="en-US" dirty="0"/>
              <a:t>×</a:t>
            </a:r>
            <a:r>
              <a:rPr lang="en-US" altLang="zh-CN" dirty="0"/>
              <a:t>3 </a:t>
            </a:r>
            <a:r>
              <a:rPr lang="zh-CN" altLang="en-US" dirty="0"/>
              <a:t>深度可分离卷积：提取局部细节信息</a:t>
            </a:r>
            <a:endParaRPr lang="zh-CN" altLang="en-US" dirty="0"/>
          </a:p>
          <a:p>
            <a:pPr indent="457200">
              <a:buNone/>
            </a:pPr>
            <a:r>
              <a:rPr lang="zh-CN" altLang="en-US" dirty="0"/>
              <a:t>膨胀</a:t>
            </a:r>
            <a:r>
              <a:rPr lang="en-US" altLang="zh-CN" dirty="0"/>
              <a:t> 3</a:t>
            </a:r>
            <a:r>
              <a:rPr lang="en-US" altLang="en-US" dirty="0"/>
              <a:t>×</a:t>
            </a:r>
            <a:r>
              <a:rPr lang="en-US" altLang="zh-CN" dirty="0"/>
              <a:t>3 </a:t>
            </a:r>
            <a:r>
              <a:rPr lang="zh-CN" altLang="en-US" dirty="0"/>
              <a:t>深度可分离卷积：扩大感受野，补充中尺度上下文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260" y="1936115"/>
            <a:ext cx="4224020" cy="4051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60" y="4638040"/>
            <a:ext cx="6502400" cy="2025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340" y="6069965"/>
            <a:ext cx="3771900" cy="6705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3810" y="-11430"/>
            <a:ext cx="12192000" cy="15240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6440" y="458182"/>
            <a:ext cx="1062638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</a:t>
            </a:r>
            <a:endParaRPr 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1161" y="1693561"/>
            <a:ext cx="1319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数据集</a:t>
            </a:r>
            <a:endParaRPr lang="zh-CN" altLang="en-US" sz="2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366395" y="2155190"/>
            <a:ext cx="5663565" cy="473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训练数据：</a:t>
            </a:r>
            <a:r>
              <a:rPr lang="en-US" altLang="zh-CN" sz="1400" dirty="0"/>
              <a:t>FLARE22 </a:t>
            </a:r>
            <a:r>
              <a:rPr lang="zh-CN" altLang="en-US" sz="1400" dirty="0"/>
              <a:t>前景切片</a:t>
            </a:r>
            <a:r>
              <a:rPr lang="en-US" altLang="zh-CN" sz="1400" dirty="0"/>
              <a:t> 3621 </a:t>
            </a:r>
            <a:r>
              <a:rPr lang="zh-CN" altLang="en-US" sz="1400" dirty="0"/>
              <a:t>张，</a:t>
            </a:r>
            <a:r>
              <a:rPr lang="en-US" altLang="zh-CN" sz="1400" dirty="0"/>
              <a:t>AMOS22 CT </a:t>
            </a:r>
            <a:r>
              <a:rPr lang="zh-CN" altLang="en-US" sz="1400" dirty="0"/>
              <a:t>前景切片</a:t>
            </a:r>
            <a:r>
              <a:rPr lang="en-US" altLang="zh-CN" sz="1400" dirty="0"/>
              <a:t> 1789 </a:t>
            </a:r>
            <a:r>
              <a:rPr lang="zh-CN" altLang="en-US" sz="1400" dirty="0"/>
              <a:t>张，共</a:t>
            </a:r>
            <a:r>
              <a:rPr lang="en-US" altLang="zh-CN" sz="1400" dirty="0"/>
              <a:t> 5410 </a:t>
            </a:r>
            <a:r>
              <a:rPr lang="zh-CN" altLang="en-US" sz="1400" dirty="0"/>
              <a:t>张。</a:t>
            </a:r>
            <a:endParaRPr lang="zh-CN" altLang="en-US" sz="1400" dirty="0"/>
          </a:p>
          <a:p>
            <a:r>
              <a:rPr lang="zh-CN" altLang="en-US" sz="1400" dirty="0"/>
              <a:t>评估数据：统一在</a:t>
            </a:r>
            <a:r>
              <a:rPr lang="en-US" altLang="zh-CN" sz="1400" dirty="0"/>
              <a:t> 60 </a:t>
            </a:r>
            <a:r>
              <a:rPr lang="zh-CN" altLang="en-US" sz="1400" dirty="0"/>
              <a:t>个</a:t>
            </a:r>
            <a:r>
              <a:rPr lang="en-US" altLang="zh-CN" sz="1400" dirty="0"/>
              <a:t> FLARE22 </a:t>
            </a:r>
            <a:r>
              <a:rPr lang="zh-CN" altLang="en-US" sz="1400" dirty="0"/>
              <a:t>和</a:t>
            </a:r>
            <a:r>
              <a:rPr lang="en-US" altLang="zh-CN" sz="1400" dirty="0"/>
              <a:t>10</a:t>
            </a:r>
            <a:r>
              <a:rPr lang="zh-CN" altLang="en-US" sz="1400" dirty="0"/>
              <a:t>个</a:t>
            </a:r>
            <a:r>
              <a:rPr lang="en-US" altLang="zh-CN" sz="1400" dirty="0">
                <a:sym typeface="+mn-ea"/>
              </a:rPr>
              <a:t>AMOS22 CT </a:t>
            </a:r>
            <a:r>
              <a:rPr lang="zh-CN" altLang="en-US" sz="1400" dirty="0"/>
              <a:t>病例上进行评估。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评价指标：</a:t>
            </a:r>
            <a:r>
              <a:rPr lang="en-US" altLang="zh-CN" sz="1400" dirty="0"/>
              <a:t>DSC</a:t>
            </a:r>
            <a:r>
              <a:rPr lang="zh-CN" altLang="en-US" sz="1400" dirty="0"/>
              <a:t>、</a:t>
            </a:r>
            <a:r>
              <a:rPr lang="en-US" altLang="zh-CN" sz="1400" dirty="0"/>
              <a:t>HD95 </a:t>
            </a:r>
            <a:r>
              <a:rPr lang="zh-CN" altLang="en-US" sz="1400" dirty="0"/>
              <a:t>和</a:t>
            </a:r>
            <a:r>
              <a:rPr lang="en-US" altLang="zh-CN" sz="1400" dirty="0"/>
              <a:t> ASD</a:t>
            </a:r>
            <a:r>
              <a:rPr lang="zh-CN" altLang="en-US" sz="1400" dirty="0"/>
              <a:t>，分别衡量区域重叠、边界最大偏差和平均表面距离。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训练配置：</a:t>
            </a:r>
            <a:r>
              <a:rPr lang="en-US" altLang="zh-CN" sz="1400" dirty="0"/>
              <a:t>AdamW</a:t>
            </a:r>
            <a:r>
              <a:rPr lang="zh-CN" altLang="en-US" sz="1400" dirty="0"/>
              <a:t>，学习率</a:t>
            </a:r>
            <a:r>
              <a:rPr lang="en-US" altLang="zh-CN" sz="1400" dirty="0"/>
              <a:t> 1x10</a:t>
            </a:r>
            <a:r>
              <a:rPr lang="en-US" altLang="zh-CN" sz="1400" baseline="30000" dirty="0"/>
              <a:t>-4</a:t>
            </a:r>
            <a:r>
              <a:rPr lang="zh-CN" altLang="en-US" sz="1400" dirty="0"/>
              <a:t>，</a:t>
            </a:r>
            <a:r>
              <a:rPr lang="en-US" altLang="zh-CN" sz="1400" dirty="0"/>
              <a:t>batch size </a:t>
            </a:r>
            <a:r>
              <a:rPr lang="zh-CN" altLang="en-US" sz="1400" dirty="0"/>
              <a:t>为</a:t>
            </a:r>
            <a:r>
              <a:rPr lang="en-US" altLang="zh-CN" sz="1400" dirty="0"/>
              <a:t> 8</a:t>
            </a:r>
            <a:r>
              <a:rPr lang="zh-CN" altLang="en-US" sz="1400" dirty="0"/>
              <a:t>，训练</a:t>
            </a:r>
            <a:r>
              <a:rPr lang="en-US" altLang="zh-CN" sz="1400" dirty="0"/>
              <a:t> 200 epochs</a:t>
            </a:r>
            <a:r>
              <a:rPr lang="zh-CN" altLang="en-US" sz="1400" dirty="0"/>
              <a:t>。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参数更新策略：以预训练</a:t>
            </a:r>
            <a:r>
              <a:rPr lang="en-US" altLang="zh-CN" sz="1400" dirty="0"/>
              <a:t> MedSAM </a:t>
            </a:r>
            <a:r>
              <a:rPr lang="zh-CN" altLang="en-US" sz="1400" dirty="0"/>
              <a:t>权重初始化，</a:t>
            </a:r>
            <a:r>
              <a:rPr lang="en-US" altLang="zh-CN" sz="1400" dirty="0"/>
              <a:t>Prompt Encoder </a:t>
            </a:r>
            <a:r>
              <a:rPr lang="zh-CN" altLang="en-US" sz="1400" dirty="0"/>
              <a:t>冻结，其余相关模块参与更新。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en-US" altLang="zh-CN" b="1" dirty="0"/>
              <a:t>FLARE22</a:t>
            </a:r>
            <a:r>
              <a:rPr lang="zh-CN" altLang="en-US" sz="1400" dirty="0"/>
              <a:t>该数据集为</a:t>
            </a:r>
            <a:r>
              <a:rPr lang="en-US" altLang="zh-CN" sz="1400" dirty="0"/>
              <a:t> MICCAI 2022 </a:t>
            </a:r>
            <a:r>
              <a:rPr lang="zh-CN" altLang="en-US" sz="1400" dirty="0"/>
              <a:t>发布的半监督腹部器官分割基准，包含</a:t>
            </a:r>
            <a:r>
              <a:rPr lang="en-US" altLang="zh-CN" sz="1400" dirty="0"/>
              <a:t> 50 </a:t>
            </a:r>
            <a:r>
              <a:rPr lang="zh-CN" altLang="en-US" sz="1400" dirty="0"/>
              <a:t>例有标注和</a:t>
            </a:r>
            <a:r>
              <a:rPr lang="en-US" altLang="zh-CN" sz="1400" dirty="0"/>
              <a:t> 2000 </a:t>
            </a:r>
            <a:r>
              <a:rPr lang="zh-CN" altLang="en-US" sz="1400" dirty="0"/>
              <a:t>例无标注的临床</a:t>
            </a:r>
            <a:r>
              <a:rPr lang="en-US" altLang="zh-CN" sz="1400" dirty="0"/>
              <a:t> CT </a:t>
            </a:r>
            <a:r>
              <a:rPr lang="zh-CN" altLang="en-US" sz="1400" dirty="0"/>
              <a:t>扫描，涵盖肝脏、脾脏等</a:t>
            </a:r>
            <a:r>
              <a:rPr lang="en-US" altLang="zh-CN" sz="1400" dirty="0"/>
              <a:t> 13 </a:t>
            </a:r>
            <a:r>
              <a:rPr lang="zh-CN" altLang="en-US" sz="1400" dirty="0"/>
              <a:t>类器官的体素级标注，是验证半监督学习与低资源模型分割效率的理想基准。</a:t>
            </a:r>
            <a:endParaRPr lang="zh-CN" altLang="en-US" sz="1400" dirty="0"/>
          </a:p>
          <a:p>
            <a:endParaRPr lang="en-US" altLang="zh-CN" sz="1400" dirty="0"/>
          </a:p>
          <a:p>
            <a:r>
              <a:rPr lang="en-US" altLang="zh-CN" b="1" dirty="0"/>
              <a:t>AMOS22 CT</a:t>
            </a:r>
            <a:r>
              <a:rPr lang="zh-CN" altLang="en-US" sz="1400" dirty="0"/>
              <a:t>该数据集为</a:t>
            </a:r>
            <a:r>
              <a:rPr lang="en-US" altLang="zh-CN" sz="1400" dirty="0"/>
              <a:t> MICCAI 2022 </a:t>
            </a:r>
            <a:r>
              <a:rPr lang="zh-CN" altLang="en-US" sz="1400" dirty="0"/>
              <a:t>发布的大规模腹部多器官分割基准，包含</a:t>
            </a:r>
            <a:r>
              <a:rPr lang="en-US" altLang="zh-CN" sz="1400" dirty="0"/>
              <a:t> 500 </a:t>
            </a:r>
            <a:r>
              <a:rPr lang="zh-CN" altLang="en-US" sz="1400" dirty="0"/>
              <a:t>例多中心临床</a:t>
            </a:r>
            <a:r>
              <a:rPr lang="en-US" altLang="zh-CN" sz="1400" dirty="0"/>
              <a:t> CT </a:t>
            </a:r>
            <a:r>
              <a:rPr lang="zh-CN" altLang="en-US" sz="1400" dirty="0"/>
              <a:t>扫描及体素级标注，涵盖胃、肠等</a:t>
            </a:r>
            <a:r>
              <a:rPr lang="en-US" altLang="zh-CN" sz="1400" dirty="0"/>
              <a:t> 15 </a:t>
            </a:r>
            <a:r>
              <a:rPr lang="zh-CN" altLang="en-US" sz="1400" dirty="0"/>
              <a:t>类目标器官。其数据具有极高的解剖复杂性与跨域多样性，是评估算法鲁棒性与泛化能力的权威基准。</a:t>
            </a:r>
            <a:endParaRPr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847217" y="1693561"/>
            <a:ext cx="2318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实验设置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035" y="2362200"/>
            <a:ext cx="4998085" cy="3081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810" y="-11430"/>
            <a:ext cx="12192000" cy="15240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6440" y="458182"/>
            <a:ext cx="1062638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目录安排</a:t>
            </a:r>
            <a:endParaRPr 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1512570"/>
            <a:ext cx="3429000" cy="5175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270" y="1512570"/>
            <a:ext cx="3289300" cy="4984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570" y="1546225"/>
            <a:ext cx="3397250" cy="51943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6340" y="2044700"/>
            <a:ext cx="3346450" cy="3022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6340" y="6069965"/>
            <a:ext cx="3771900" cy="67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75"/>
            <a:ext cx="12192000" cy="5943600"/>
          </a:xfrm>
          <a:prstGeom prst="rect">
            <a:avLst/>
          </a:prstGeom>
          <a:solidFill>
            <a:srgbClr val="85190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77210" y="3786121"/>
            <a:ext cx="71977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79705" y="2903220"/>
            <a:ext cx="11826240" cy="952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  <a:endParaRPr lang="en-US" sz="4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340" y="6069965"/>
            <a:ext cx="3771900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advTm="11835">
        <p159:morph option="byObject"/>
      </p:transition>
    </mc:Choice>
    <mc:Fallback>
      <p:transition spd="slow" advTm="11835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PP_MARK_KEY" val="123e144a-fb36-4aad-970a-0da6d50684bc"/>
  <p:tag name="COMMONDATA" val="eyJoZGlkIjoiZjBiMDdjYjRkMzQyNTNkYTFkOGZmYTc3NzFhOTVlNT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1821</Words>
  <Application>WPS 演示</Application>
  <PresentationFormat>宽屏</PresentationFormat>
  <Paragraphs>82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Times New Roman</vt:lpstr>
      <vt:lpstr>华文中宋</vt:lpstr>
      <vt:lpstr>-apple-system</vt:lpstr>
      <vt:lpstr>Segoe Print</vt:lpstr>
      <vt:lpstr>Wingdings</vt:lpstr>
      <vt:lpstr>Inter</vt:lpstr>
      <vt:lpstr>Twemoji Country Flags</vt:lpstr>
      <vt:lpstr>Arial Unicode MS</vt:lpstr>
      <vt:lpstr>Calibri</vt:lpstr>
      <vt:lpstr>Office 主题​​</vt:lpstr>
      <vt:lpstr>基于扩散模型的模糊医学图像分割方法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 mu</dc:creator>
  <cp:lastModifiedBy>周贤玮</cp:lastModifiedBy>
  <cp:revision>101</cp:revision>
  <dcterms:created xsi:type="dcterms:W3CDTF">2024-10-18T06:16:00Z</dcterms:created>
  <dcterms:modified xsi:type="dcterms:W3CDTF">2026-03-25T18:39:57Z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F8B85E84F817485AAA8199CF25CFFFBE_12</vt:lpwstr>
  </property>
</Properties>
</file>